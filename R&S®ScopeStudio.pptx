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vml" ContentType="application/vnd.openxmlformats-officedocument.vmlDrawing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s/slide2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21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0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1.xml" ContentType="application/vnd.openxmlformats-officedocument.presentationml.slideLayout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tags/tag11.xml" ContentType="application/vnd.openxmlformats-officedocument.presentationml.tag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tags/tag7.xml" ContentType="application/vnd.openxmlformats-officedocument.presentationml.tags+xml"/>
  <Override PartName="/ppt/tags/tag1.xml" ContentType="application/vnd.openxmlformats-officedocument.presentationml.tags+xml"/>
  <Override PartName="/docProps/core.xml" ContentType="application/vnd.openxmlformats-package.core-properties+xml"/>
  <Override PartName="/ppt/tags/tag5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9.xml" ContentType="application/vnd.openxmlformats-officedocument.presentationml.tags+xml"/>
  <Override PartName="/ppt/tags/tag8.xml" ContentType="application/vnd.openxmlformats-officedocument.presentationml.tags+xml"/>
  <Override PartName="/ppt/tags/tag12.xml" ContentType="application/vnd.openxmlformats-officedocument.presentationml.tags+xml"/>
  <Override PartName="/ppt/tags/tag4.xml" ContentType="application/vnd.openxmlformats-officedocument.presentationml.tags+xml"/>
  <Override PartName="/ppt/tags/tag6.xml" ContentType="application/vnd.openxmlformats-officedocument.presentationml.tag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0" r:id="rId1"/>
  </p:sldMasterIdLst>
  <p:notesMasterIdLst>
    <p:notesMasterId r:id="rId25"/>
  </p:notesMasterIdLst>
  <p:handoutMasterIdLst>
    <p:handoutMasterId r:id="rId26"/>
  </p:handoutMasterIdLst>
  <p:sldIdLst>
    <p:sldId id="258" r:id="rId2"/>
    <p:sldId id="2147476833" r:id="rId3"/>
    <p:sldId id="2147476841" r:id="rId4"/>
    <p:sldId id="2147476836" r:id="rId5"/>
    <p:sldId id="337" r:id="rId6"/>
    <p:sldId id="273" r:id="rId7"/>
    <p:sldId id="275" r:id="rId8"/>
    <p:sldId id="336" r:id="rId9"/>
    <p:sldId id="278" r:id="rId10"/>
    <p:sldId id="279" r:id="rId11"/>
    <p:sldId id="2147476839" r:id="rId12"/>
    <p:sldId id="322" r:id="rId13"/>
    <p:sldId id="330" r:id="rId14"/>
    <p:sldId id="2147476843" r:id="rId15"/>
    <p:sldId id="2147476844" r:id="rId16"/>
    <p:sldId id="329" r:id="rId17"/>
    <p:sldId id="2147476842" r:id="rId18"/>
    <p:sldId id="2147476845" r:id="rId19"/>
    <p:sldId id="2147476837" r:id="rId20"/>
    <p:sldId id="2147476838" r:id="rId21"/>
    <p:sldId id="2147476803" r:id="rId22"/>
    <p:sldId id="2147476834" r:id="rId23"/>
    <p:sldId id="2147476832" r:id="rId24"/>
  </p:sldIdLst>
  <p:sldSz cx="9144000" cy="5143500" type="screen16x9"/>
  <p:notesSz cx="6858000" cy="9144000"/>
  <p:custDataLst>
    <p:tags r:id="rId2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pos="226">
          <p15:clr>
            <a:srgbClr val="A4A3A4"/>
          </p15:clr>
        </p15:guide>
        <p15:guide id="4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3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4190" autoAdjust="0"/>
    <p:restoredTop sz="91282" autoAdjust="0"/>
  </p:normalViewPr>
  <p:slideViewPr>
    <p:cSldViewPr snapToObjects="1" showGuides="1">
      <p:cViewPr varScale="1">
        <p:scale>
          <a:sx n="146" d="100"/>
          <a:sy n="146" d="100"/>
        </p:scale>
        <p:origin x="576" y="114"/>
      </p:cViewPr>
      <p:guideLst>
        <p:guide pos="226"/>
        <p:guide orient="horz" pos="16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Objects="1">
      <p:cViewPr varScale="1">
        <p:scale>
          <a:sx n="96" d="100"/>
          <a:sy n="96" d="100"/>
        </p:scale>
        <p:origin x="3558" y="102"/>
      </p:cViewPr>
      <p:guideLst>
        <p:guide orient="horz" pos="3223"/>
        <p:guide pos="2237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gs" Target="tags/tag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1B88414C-F190-4ED7-986F-59750D05EE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CFE4C274-1C70-4905-AD25-947876CDEDE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8ED99-101D-4D25-A61B-F1145E2096AF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52FFA33-24FB-4C71-AB23-14C8D81C461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B39D9B1-31D4-4A40-B9C1-FB90F7754F5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956FD0-ED1E-4875-B69D-F87A441EE5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40218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E7110D-8713-4818-A6C5-BA5073E6EF19}" type="datetimeFigureOut">
              <a:rPr lang="en-US" smtClean="0"/>
              <a:t>9/16/2024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81000" y="4343400"/>
            <a:ext cx="60960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620C28-1F57-4AC3-BC38-27FE91AD92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27041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52000" indent="-252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►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1pPr>
    <a:lvl2pPr marL="45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2pPr>
    <a:lvl3pPr marL="63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3pPr>
    <a:lvl4pPr marL="81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4pPr>
    <a:lvl5pPr marL="990000" indent="-180000" algn="l" defTabSz="914400" rtl="0" eaLnBrk="1" latinLnBrk="0" hangingPunct="1">
      <a:lnSpc>
        <a:spcPct val="105000"/>
      </a:lnSpc>
      <a:spcAft>
        <a:spcPts val="400"/>
      </a:spcAft>
      <a:buSzPct val="90000"/>
      <a:buFont typeface="Arial" panose="020B0604020202020204" pitchFamily="34" charset="0"/>
      <a:buChar char="‒"/>
      <a:defRPr sz="1200" kern="1200">
        <a:solidFill>
          <a:schemeClr val="tx1"/>
        </a:solidFill>
        <a:latin typeface="+mn-lt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emf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Market segment 1">
            <a:extLst>
              <a:ext uri="{FF2B5EF4-FFF2-40B4-BE49-F238E27FC236}">
                <a16:creationId xmlns:a16="http://schemas.microsoft.com/office/drawing/2014/main" id="{FEB92341-A0BD-42D5-A6C9-33B63CFE323F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41151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13 pt, e.g. market segment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3" hasCustomPrompt="1"/>
          </p:nvPr>
        </p:nvSpPr>
        <p:spPr>
          <a:xfrm>
            <a:off x="360000" y="2880000"/>
            <a:ext cx="4896000" cy="792000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Aft>
                <a:spcPts val="0"/>
              </a:spcAft>
              <a:buNone/>
              <a:defRPr sz="1500" b="0">
                <a:solidFill>
                  <a:schemeClr val="bg1"/>
                </a:solidFill>
              </a:defRPr>
            </a:lvl1pPr>
            <a:lvl2pPr marL="0" indent="0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0" indent="0">
              <a:buNone/>
              <a:defRPr>
                <a:solidFill>
                  <a:schemeClr val="bg1"/>
                </a:solidFill>
              </a:defRPr>
            </a:lvl4pPr>
            <a:lvl5pPr marL="0" indent="0">
              <a:buNone/>
              <a:defRPr>
                <a:solidFill>
                  <a:schemeClr val="bg1"/>
                </a:solidFill>
              </a:defRPr>
            </a:lvl5pPr>
            <a:lvl6pPr marL="0" indent="0">
              <a:buNone/>
              <a:defRPr>
                <a:solidFill>
                  <a:schemeClr val="bg1"/>
                </a:solidFill>
              </a:defRPr>
            </a:lvl6pPr>
            <a:lvl7pPr marL="0" indent="0">
              <a:buNone/>
              <a:defRPr>
                <a:solidFill>
                  <a:schemeClr val="bg1"/>
                </a:solidFill>
              </a:defRPr>
            </a:lvl7pPr>
            <a:lvl8pPr marL="0" indent="0">
              <a:buNone/>
              <a:defRPr>
                <a:solidFill>
                  <a:schemeClr val="bg1"/>
                </a:solidFill>
              </a:defRPr>
            </a:lvl8pPr>
            <a:lvl9pPr marL="0" indent="0">
              <a:buNone/>
              <a:defRPr>
                <a:solidFill>
                  <a:schemeClr val="bg1"/>
                </a:solidFill>
              </a:defRPr>
            </a:lvl9pPr>
          </a:lstStyle>
          <a:p>
            <a:r>
              <a:rPr lang="en-US" dirty="0"/>
              <a:t>Enter subtitle</a:t>
            </a:r>
            <a:br>
              <a:rPr lang="en-US" dirty="0"/>
            </a:br>
            <a:r>
              <a:rPr lang="en-US" dirty="0"/>
              <a:t>(15pt, max. 3 lines), e. g. name, date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60000" y="648000"/>
            <a:ext cx="4896001" cy="2016000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title of presentation</a:t>
            </a:r>
            <a:br>
              <a:rPr lang="en-US" dirty="0"/>
            </a:br>
            <a:r>
              <a:rPr lang="en-US" dirty="0"/>
              <a:t>(27 pt,max. 3 lines)</a:t>
            </a:r>
          </a:p>
        </p:txBody>
      </p:sp>
      <p:pic>
        <p:nvPicPr>
          <p:cNvPr id="10" name="Raute 1">
            <a:extLst>
              <a:ext uri="{FF2B5EF4-FFF2-40B4-BE49-F238E27FC236}">
                <a16:creationId xmlns:a16="http://schemas.microsoft.com/office/drawing/2014/main" id="{D17EA172-063A-40AA-8470-C5F3DBA0D2C0}"/>
              </a:ext>
            </a:extLst>
          </p:cNvPr>
          <p:cNvPicPr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6543" y="3579862"/>
            <a:ext cx="1007222" cy="1008000"/>
          </a:xfrm>
          <a:prstGeom prst="rect">
            <a:avLst/>
          </a:prstGeom>
        </p:spPr>
      </p:pic>
      <p:pic>
        <p:nvPicPr>
          <p:cNvPr id="11" name="RS Wortbild">
            <a:extLst>
              <a:ext uri="{FF2B5EF4-FFF2-40B4-BE49-F238E27FC236}">
                <a16:creationId xmlns:a16="http://schemas.microsoft.com/office/drawing/2014/main" id="{2833F9E8-E16C-49F6-B714-1F744E4F5ED2}"/>
              </a:ext>
            </a:extLst>
          </p:cNvPr>
          <p:cNvPicPr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9998" y="3998331"/>
            <a:ext cx="2339830" cy="4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9481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">
            <a:extLst>
              <a:ext uri="{FF2B5EF4-FFF2-40B4-BE49-F238E27FC236}">
                <a16:creationId xmlns:a16="http://schemas.microsoft.com/office/drawing/2014/main" id="{89B6CDB4-3A8E-4D91-810A-42A92602706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 anchor="t"/>
          <a:lstStyle>
            <a:lvl1pPr marL="0" indent="0" algn="ctr">
              <a:buNone/>
              <a:defRPr/>
            </a:lvl1pPr>
          </a:lstStyle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Click on Icon to add a picture</a:t>
            </a:r>
            <a:br>
              <a:rPr lang="en-US" dirty="0"/>
            </a:br>
            <a:r>
              <a:rPr lang="en-US" dirty="0"/>
              <a:t>Please follow the shortcut in your picture folder</a:t>
            </a:r>
            <a:br>
              <a:rPr lang="en-US" dirty="0"/>
            </a:br>
            <a:r>
              <a:rPr lang="en-US" dirty="0"/>
              <a:t>Use only licensed pictures!</a:t>
            </a:r>
          </a:p>
        </p:txBody>
      </p:sp>
      <p:sp>
        <p:nvSpPr>
          <p:cNvPr id="7" name="Title 1"/>
          <p:cNvSpPr>
            <a:spLocks noGrp="1" noMove="1" noResize="1"/>
          </p:cNvSpPr>
          <p:nvPr>
            <p:ph type="title" hasCustomPrompt="1"/>
          </p:nvPr>
        </p:nvSpPr>
        <p:spPr>
          <a:xfrm>
            <a:off x="360000" y="3528000"/>
            <a:ext cx="8496000" cy="1296000"/>
          </a:xfrm>
          <a:blipFill>
            <a:blip r:embed="rId2"/>
            <a:stretch>
              <a:fillRect/>
            </a:stretch>
          </a:blipFill>
        </p:spPr>
        <p:txBody>
          <a:bodyPr lIns="144000" tIns="36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Subtitle (27 pt, max. 2 lines)</a:t>
            </a:r>
            <a:br>
              <a:rPr lang="en-US" dirty="0"/>
            </a:br>
            <a:r>
              <a:rPr lang="en-US" dirty="0"/>
              <a:t>- Do not resize the placeholder! -</a:t>
            </a:r>
            <a:br>
              <a:rPr lang="en-US" dirty="0"/>
            </a:br>
            <a:endParaRPr lang="en-US" dirty="0"/>
          </a:p>
        </p:txBody>
      </p:sp>
      <p:sp>
        <p:nvSpPr>
          <p:cNvPr id="9" name="Market segment 1">
            <a:extLst>
              <a:ext uri="{FF2B5EF4-FFF2-40B4-BE49-F238E27FC236}">
                <a16:creationId xmlns:a16="http://schemas.microsoft.com/office/drawing/2014/main" id="{33935D49-9FF6-4F81-B3AB-91756B06E04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13 pt, e.g. market segment</a:t>
            </a:r>
          </a:p>
        </p:txBody>
      </p:sp>
    </p:spTree>
    <p:extLst>
      <p:ext uri="{BB962C8B-B14F-4D97-AF65-F5344CB8AC3E}">
        <p14:creationId xmlns:p14="http://schemas.microsoft.com/office/powerpoint/2010/main" val="994229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2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3528000"/>
            <a:ext cx="8496000" cy="1131313"/>
          </a:xfrm>
          <a:noFill/>
        </p:spPr>
        <p:txBody>
          <a:bodyPr lIns="144000" tIns="360000" rIns="144000" b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Subtitle (27 pt, max. 2 lines)</a:t>
            </a:r>
            <a:br>
              <a:rPr lang="en-US" dirty="0"/>
            </a:br>
            <a:r>
              <a:rPr lang="en-US" dirty="0"/>
              <a:t>(27 pt, max. 2 lines)</a:t>
            </a:r>
            <a:br>
              <a:rPr lang="en-US" dirty="0"/>
            </a:br>
            <a:endParaRPr lang="en-US" dirty="0"/>
          </a:p>
        </p:txBody>
      </p:sp>
      <p:sp>
        <p:nvSpPr>
          <p:cNvPr id="13" name="Market segment 1">
            <a:extLst>
              <a:ext uri="{FF2B5EF4-FFF2-40B4-BE49-F238E27FC236}">
                <a16:creationId xmlns:a16="http://schemas.microsoft.com/office/drawing/2014/main" id="{166762E6-F093-4DB3-A7AB-E0C7464884B3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54000"/>
            <a:ext cx="3168000" cy="205200"/>
          </a:xfrm>
        </p:spPr>
        <p:txBody>
          <a:bodyPr wrap="none" lIns="144000">
            <a:noAutofit/>
          </a:bodyPr>
          <a:lstStyle>
            <a:lvl1pPr marL="0" indent="0">
              <a:buNone/>
              <a:defRPr sz="1300" spc="80" baseline="0">
                <a:solidFill>
                  <a:schemeClr val="tx2"/>
                </a:solidFill>
                <a:latin typeface="+mj-lt"/>
              </a:defRPr>
            </a:lvl1pPr>
            <a:lvl2pPr marL="0" indent="0">
              <a:buNone/>
              <a:defRPr>
                <a:solidFill>
                  <a:schemeClr val="tx2"/>
                </a:solidFill>
              </a:defRPr>
            </a:lvl2pPr>
            <a:lvl3pPr marL="0" indent="0">
              <a:buNone/>
              <a:defRPr>
                <a:solidFill>
                  <a:schemeClr val="tx2"/>
                </a:solidFill>
              </a:defRPr>
            </a:lvl3pPr>
            <a:lvl4pPr marL="0" indent="0">
              <a:buNone/>
              <a:defRPr>
                <a:solidFill>
                  <a:schemeClr val="tx2"/>
                </a:solidFill>
              </a:defRPr>
            </a:lvl4pPr>
            <a:lvl5pPr marL="0" indent="0">
              <a:buNone/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Text 13 pt, e.g. market segment</a:t>
            </a:r>
          </a:p>
        </p:txBody>
      </p:sp>
    </p:spTree>
    <p:extLst>
      <p:ext uri="{BB962C8B-B14F-4D97-AF65-F5344CB8AC3E}">
        <p14:creationId xmlns:p14="http://schemas.microsoft.com/office/powerpoint/2010/main" val="951256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(15pt) or define content via symbol in the middle. (Pictures: Please follow the shortcut in your picture folder. Use only licensed pictures!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7ECEFEA2-E972-451C-BACB-BAEC02C7BB6F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1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37B6B4EF-200C-4243-89CB-ACD9A86DA00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16567901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Header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458000"/>
            <a:ext cx="8496000" cy="3204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(15pt) or define content via symbol in the middle. (Pictures: Please follow the shortcut in your picture folder. Use only licensed pictures!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8496000" cy="252000"/>
          </a:xfrm>
        </p:spPr>
        <p:txBody>
          <a:bodyPr wrap="none" anchor="b"/>
          <a:lstStyle>
            <a:lvl1pPr marL="0" indent="0">
              <a:lnSpc>
                <a:spcPct val="100000"/>
              </a:lnSpc>
              <a:buNone/>
              <a:defRPr sz="1500" b="1" baseline="0"/>
            </a:lvl1pPr>
            <a:lvl2pPr marL="457200" indent="0">
              <a:buNone/>
              <a:defRPr sz="1500" b="1"/>
            </a:lvl2pPr>
            <a:lvl3pPr marL="914400" indent="0">
              <a:buNone/>
              <a:defRPr sz="1500" b="1"/>
            </a:lvl3pPr>
            <a:lvl4pPr marL="1371600" indent="0">
              <a:buNone/>
              <a:defRPr sz="1500" b="1"/>
            </a:lvl4pPr>
            <a:lvl5pPr marL="1828800" indent="0">
              <a:buNone/>
              <a:defRPr sz="1500" b="1"/>
            </a:lvl5pPr>
            <a:lvl6pPr marL="2286000" indent="0">
              <a:buNone/>
              <a:defRPr sz="1500" b="1"/>
            </a:lvl6pPr>
            <a:lvl7pPr marL="2743200" indent="0">
              <a:buNone/>
              <a:defRPr sz="1500" b="1"/>
            </a:lvl7pPr>
            <a:lvl8pPr marL="3200400" indent="0">
              <a:buNone/>
              <a:defRPr sz="1500" b="1"/>
            </a:lvl8pPr>
            <a:lvl9pPr marL="3657600" indent="0">
              <a:buNone/>
              <a:defRPr sz="1500" b="1"/>
            </a:lvl9pPr>
          </a:lstStyle>
          <a:p>
            <a:pPr lvl="0"/>
            <a:r>
              <a:rPr lang="en-US" dirty="0"/>
              <a:t>Enter heading (15 pt, bold, max. 1 line)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C5F0F978-39D8-4381-AD73-5D4B1E6CC515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A760D8A3-0215-4116-BB60-0451B5B34D9D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41915506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idx="1" hasCustomPrompt="1"/>
          </p:nvPr>
        </p:nvSpPr>
        <p:spPr>
          <a:xfrm>
            <a:off x="360000" y="1134000"/>
            <a:ext cx="4176000" cy="3528000"/>
          </a:xfrm>
        </p:spPr>
        <p:txBody>
          <a:bodyPr vert="horz" lIns="0" tIns="0" rIns="0" bIns="0" rtlCol="0">
            <a:noAutofit/>
          </a:bodyPr>
          <a:lstStyle>
            <a:lvl1pPr>
              <a:defRPr/>
            </a:lvl1pPr>
          </a:lstStyle>
          <a:p>
            <a:pPr lvl="0"/>
            <a:r>
              <a:rPr lang="en-US" dirty="0"/>
              <a:t>Enter text (15pt) or define content via symbol in the middle. (Pictures: Please follow the shortcut in your picture folder. Use only licensed pictures!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134000"/>
            <a:ext cx="4176000" cy="3528000"/>
          </a:xfrm>
        </p:spPr>
        <p:txBody>
          <a:bodyPr/>
          <a:lstStyle/>
          <a:p>
            <a:pPr lvl="0"/>
            <a:r>
              <a:rPr lang="en-US" dirty="0"/>
              <a:t>Enter text (15pt) or define content via symbol in the middle. (Pictures: Please follow the shortcut in your picture folder. Use only licensed pictures!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970E0643-A7E8-4B73-BE9C-B587B2B6815D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hapter 1">
            <a:extLst>
              <a:ext uri="{FF2B5EF4-FFF2-40B4-BE49-F238E27FC236}">
                <a16:creationId xmlns:a16="http://schemas.microsoft.com/office/drawing/2014/main" id="{AC160EE7-24D9-4485-B893-D0D916F8F397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259704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4176000" cy="48286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(15 pt, bold, max. 2 lines)</a:t>
            </a:r>
          </a:p>
        </p:txBody>
      </p:sp>
      <p:sp>
        <p:nvSpPr>
          <p:cNvPr id="15" name="Heading 2"/>
          <p:cNvSpPr>
            <a:spLocks noGrp="1"/>
          </p:cNvSpPr>
          <p:nvPr>
            <p:ph type="body" idx="14" hasCustomPrompt="1"/>
          </p:nvPr>
        </p:nvSpPr>
        <p:spPr>
          <a:xfrm>
            <a:off x="4680000" y="1134000"/>
            <a:ext cx="417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(15 pt, bold, max. 2 lines)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417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(15pt) or define content via symbol in the middle. (Pictures: Please follow the shortcut in your picture folder. Use only licensed pictures!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4680000" y="1674000"/>
            <a:ext cx="417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(15pt) or define content via symbol in the middle. (Pictures: Please follow the shortcut in your picture folder. Use only licensed pictures!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934E1BB4-001B-4E42-BC4B-4E30F1B1F593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1162817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s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14" name="Heading 1"/>
          <p:cNvSpPr>
            <a:spLocks noGrp="1"/>
          </p:cNvSpPr>
          <p:nvPr>
            <p:ph type="body" idx="13" hasCustomPrompt="1"/>
          </p:nvPr>
        </p:nvSpPr>
        <p:spPr>
          <a:xfrm>
            <a:off x="36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 baseline="0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(15 pt, bold, max. 2 lines)</a:t>
            </a:r>
          </a:p>
        </p:txBody>
      </p:sp>
      <p:sp>
        <p:nvSpPr>
          <p:cNvPr id="15" name="Heading  2"/>
          <p:cNvSpPr>
            <a:spLocks noGrp="1"/>
          </p:cNvSpPr>
          <p:nvPr>
            <p:ph type="body" idx="14" hasCustomPrompt="1"/>
          </p:nvPr>
        </p:nvSpPr>
        <p:spPr>
          <a:xfrm>
            <a:off x="324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(15 pt, bold, max. 2 lines)</a:t>
            </a:r>
          </a:p>
        </p:txBody>
      </p:sp>
      <p:sp>
        <p:nvSpPr>
          <p:cNvPr id="11" name="Heading  3"/>
          <p:cNvSpPr>
            <a:spLocks noGrp="1"/>
          </p:cNvSpPr>
          <p:nvPr>
            <p:ph type="body" idx="15" hasCustomPrompt="1"/>
          </p:nvPr>
        </p:nvSpPr>
        <p:spPr>
          <a:xfrm>
            <a:off x="6120000" y="1134000"/>
            <a:ext cx="2736000" cy="482869"/>
          </a:xfrm>
        </p:spPr>
        <p:txBody>
          <a:bodyPr anchor="b"/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b="1"/>
            </a:lvl1pPr>
            <a:lvl2pPr marL="457200" indent="0">
              <a:buNone/>
              <a:defRPr b="1"/>
            </a:lvl2pPr>
            <a:lvl3pPr marL="914400" indent="0">
              <a:buNone/>
              <a:defRPr b="1"/>
            </a:lvl3pPr>
            <a:lvl4pPr marL="1371600" indent="0">
              <a:buNone/>
              <a:defRPr b="1"/>
            </a:lvl4pPr>
            <a:lvl5pPr marL="1828800" indent="0">
              <a:buNone/>
              <a:defRPr b="1"/>
            </a:lvl5pPr>
            <a:lvl6pPr marL="2286000" indent="0">
              <a:buNone/>
              <a:defRPr b="1"/>
            </a:lvl6pPr>
            <a:lvl7pPr marL="2743200" indent="0">
              <a:buNone/>
              <a:defRPr b="1"/>
            </a:lvl7pPr>
            <a:lvl8pPr marL="3200400" indent="0">
              <a:buNone/>
              <a:defRPr b="1"/>
            </a:lvl8pPr>
            <a:lvl9pPr marL="3657600" indent="0">
              <a:buNone/>
              <a:defRPr b="1"/>
            </a:lvl9pPr>
          </a:lstStyle>
          <a:p>
            <a:pPr lvl="0"/>
            <a:r>
              <a:rPr lang="en-US" dirty="0"/>
              <a:t>Heading</a:t>
            </a:r>
            <a:br>
              <a:rPr lang="en-US" dirty="0"/>
            </a:br>
            <a:r>
              <a:rPr lang="en-US" dirty="0"/>
              <a:t>(15 pt, bold, max. 2 lines)</a:t>
            </a:r>
          </a:p>
        </p:txBody>
      </p:sp>
      <p:sp>
        <p:nvSpPr>
          <p:cNvPr id="4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define content via symbol in the middle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sz="half" idx="2" hasCustomPrompt="1"/>
          </p:nvPr>
        </p:nvSpPr>
        <p:spPr>
          <a:xfrm>
            <a:off x="324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define content via symbol in the middle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95F76C60-A3A8-45E7-A060-940E0F2914BB}"/>
              </a:ext>
            </a:extLst>
          </p:cNvPr>
          <p:cNvSpPr>
            <a:spLocks noGrp="1"/>
          </p:cNvSpPr>
          <p:nvPr>
            <p:ph sz="half" idx="3" hasCustomPrompt="1"/>
          </p:nvPr>
        </p:nvSpPr>
        <p:spPr>
          <a:xfrm>
            <a:off x="6120000" y="1674000"/>
            <a:ext cx="2736000" cy="298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or define content via symbol in the middle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1B5537D2-07F7-4297-90D5-EEE6F04C92B6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9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7A8601F4-43DA-44CE-8F0C-9268468ED02C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934460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D14BEC8E-22E3-4CA0-8411-D99466FD43A7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hapter 1">
            <a:extLst>
              <a:ext uri="{FF2B5EF4-FFF2-40B4-BE49-F238E27FC236}">
                <a16:creationId xmlns:a16="http://schemas.microsoft.com/office/drawing/2014/main" id="{06E95062-3E7C-4114-A456-F57CB2DB0DA6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309295652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C978C7E6-056B-4FFE-B577-14199993EC97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9679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with brand 1">
            <a:extLst>
              <a:ext uri="{FF2B5EF4-FFF2-40B4-BE49-F238E27FC236}">
                <a16:creationId xmlns:a16="http://schemas.microsoft.com/office/drawing/2014/main" id="{87830F85-CC7B-4FC2-AA25-0ED6B2E1480F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0" y="0"/>
            <a:ext cx="3100000" cy="5146000"/>
          </a:xfrm>
          <a:blipFill>
            <a:blip r:embed="rId2"/>
            <a:stretch>
              <a:fillRect/>
            </a:stretch>
          </a:blipFill>
        </p:spPr>
        <p:txBody>
          <a:bodyPr lIns="360000" tIns="1134000" rIns="144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text (15pt)</a:t>
            </a:r>
            <a:br>
              <a:rPr lang="en-US" dirty="0"/>
            </a:br>
            <a:r>
              <a:rPr lang="en-US" dirty="0"/>
              <a:t>--Do not resize the placeholder! - The brand element must not be distorted!--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2934000" cy="990000"/>
          </a:xfrm>
        </p:spPr>
        <p:txBody>
          <a:bodyPr lIns="360000" t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(max. 2 lines)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3096000" y="0"/>
            <a:ext cx="6048000" cy="51435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on Icon to add a picture.</a:t>
            </a:r>
            <a:br>
              <a:rPr lang="en-US" dirty="0"/>
            </a:br>
            <a:r>
              <a:rPr lang="en-US" dirty="0"/>
              <a:t>Please follow the shortcut in your picture folder.</a:t>
            </a:r>
            <a:br>
              <a:rPr lang="en-US" dirty="0"/>
            </a:br>
            <a:r>
              <a:rPr lang="en-US" dirty="0"/>
              <a:t>Use only licensed pictures!</a:t>
            </a:r>
          </a:p>
        </p:txBody>
      </p:sp>
    </p:spTree>
    <p:extLst>
      <p:ext uri="{BB962C8B-B14F-4D97-AF65-F5344CB8AC3E}">
        <p14:creationId xmlns:p14="http://schemas.microsoft.com/office/powerpoint/2010/main" val="2548313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i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 anchor="t" anchorCtr="1"/>
          <a:lstStyle>
            <a:lvl1pPr marL="0" indent="0" algn="ctr">
              <a:buFontTx/>
              <a:buNone/>
              <a:defRPr/>
            </a:lvl1pPr>
          </a:lstStyle>
          <a:p>
            <a:br>
              <a:rPr lang="en-US" dirty="0"/>
            </a:br>
            <a:r>
              <a:rPr lang="en-US" dirty="0"/>
              <a:t>                  </a:t>
            </a:r>
            <a:br>
              <a:rPr lang="en-US" dirty="0"/>
            </a:br>
            <a:r>
              <a:rPr lang="en-US" dirty="0"/>
              <a:t>                      Click on Icon to add a picture.</a:t>
            </a:r>
            <a:br>
              <a:rPr lang="en-US" dirty="0"/>
            </a:br>
            <a:r>
              <a:rPr lang="en-US" dirty="0"/>
              <a:t>                                                   Please follow the shortcut in your picture folder.</a:t>
            </a:r>
            <a:br>
              <a:rPr lang="en-US" dirty="0"/>
            </a:br>
            <a:r>
              <a:rPr lang="en-US" dirty="0"/>
              <a:t>                 Use only licensed pictures!</a:t>
            </a:r>
          </a:p>
        </p:txBody>
      </p:sp>
      <p:sp>
        <p:nvSpPr>
          <p:cNvPr id="4" name="Text placeholder with brand">
            <a:extLst>
              <a:ext uri="{FF2B5EF4-FFF2-40B4-BE49-F238E27FC236}">
                <a16:creationId xmlns:a16="http://schemas.microsoft.com/office/drawing/2014/main" id="{E7A7BC47-5BFD-4C19-94A3-96984B52B69F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360000" y="288000"/>
            <a:ext cx="2880000" cy="4374488"/>
          </a:xfrm>
          <a:blipFill>
            <a:blip r:embed="rId2"/>
            <a:stretch>
              <a:fillRect/>
            </a:stretch>
          </a:blipFill>
        </p:spPr>
        <p:txBody>
          <a:bodyPr lIns="144000" tIns="1008000" r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text (15pt)</a:t>
            </a:r>
            <a:br>
              <a:rPr lang="en-US" dirty="0"/>
            </a:br>
            <a:r>
              <a:rPr lang="en-US" dirty="0"/>
              <a:t>--Do not resize the placeholder! - The brand element must not be distorted!--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2880000" cy="828000"/>
          </a:xfrm>
        </p:spPr>
        <p:txBody>
          <a:bodyPr lIns="144000" tIns="144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(max. 2 lines)</a:t>
            </a:r>
          </a:p>
        </p:txBody>
      </p:sp>
    </p:spTree>
    <p:extLst>
      <p:ext uri="{BB962C8B-B14F-4D97-AF65-F5344CB8AC3E}">
        <p14:creationId xmlns:p14="http://schemas.microsoft.com/office/powerpoint/2010/main" val="180415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ext placeholder with brand 1">
            <a:extLst>
              <a:ext uri="{FF2B5EF4-FFF2-40B4-BE49-F238E27FC236}">
                <a16:creationId xmlns:a16="http://schemas.microsoft.com/office/drawing/2014/main" id="{9797811E-718E-49FB-9718-F61B7CBC64CD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6120000" y="0"/>
            <a:ext cx="3024000" cy="5144400"/>
          </a:xfrm>
          <a:blipFill>
            <a:blip r:embed="rId2"/>
            <a:stretch>
              <a:fillRect/>
            </a:stretch>
          </a:blipFill>
        </p:spPr>
        <p:txBody>
          <a:bodyPr lIns="144000" tIns="1134000" rIns="144000" bIns="468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Enter text (15pt)</a:t>
            </a:r>
            <a:br>
              <a:rPr lang="en-US" dirty="0"/>
            </a:br>
            <a:r>
              <a:rPr lang="en-US" dirty="0"/>
              <a:t>--Do not resize the placeholder! - The brand element must not be distorted!--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6120000" y="0"/>
            <a:ext cx="2880000" cy="990000"/>
          </a:xfrm>
        </p:spPr>
        <p:txBody>
          <a:bodyPr lIns="144000" tIns="288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(max. 2 lines)</a:t>
            </a:r>
          </a:p>
        </p:txBody>
      </p:sp>
      <p:sp>
        <p:nvSpPr>
          <p:cNvPr id="8" name="Bildplatzhalt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6120000" cy="51435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Click on Icon to add a picture.</a:t>
            </a:r>
            <a:br>
              <a:rPr lang="en-US" dirty="0"/>
            </a:br>
            <a:r>
              <a:rPr lang="en-US" dirty="0"/>
              <a:t>Please follow the shortcut in your picture folder.</a:t>
            </a:r>
            <a:br>
              <a:rPr lang="en-US" dirty="0"/>
            </a:br>
            <a:r>
              <a:rPr lang="en-US" dirty="0"/>
              <a:t>Use only licensed pictures!</a:t>
            </a:r>
          </a:p>
        </p:txBody>
      </p:sp>
    </p:spTree>
    <p:extLst>
      <p:ext uri="{BB962C8B-B14F-4D97-AF65-F5344CB8AC3E}">
        <p14:creationId xmlns:p14="http://schemas.microsoft.com/office/powerpoint/2010/main" val="2712360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rand in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ildplatzhalter 1"/>
          <p:cNvSpPr>
            <a:spLocks noGrp="1"/>
          </p:cNvSpPr>
          <p:nvPr>
            <p:ph type="pic" sz="quarter" idx="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 algn="l">
              <a:buFontTx/>
              <a:buNone/>
              <a:defRPr/>
            </a:lvl1pPr>
          </a:lstStyle>
          <a:p>
            <a:br>
              <a:rPr lang="en-US" dirty="0"/>
            </a:br>
            <a:r>
              <a:rPr lang="en-US" dirty="0"/>
              <a:t>                  </a:t>
            </a:r>
            <a:br>
              <a:rPr lang="en-US" dirty="0"/>
            </a:br>
            <a:r>
              <a:rPr lang="en-US" dirty="0"/>
              <a:t>                      Click on Icon to add a picture.</a:t>
            </a:r>
            <a:br>
              <a:rPr lang="en-US" dirty="0"/>
            </a:br>
            <a:r>
              <a:rPr lang="en-US" dirty="0"/>
              <a:t>                      Please follow the shortcut in your picture folder.</a:t>
            </a:r>
            <a:br>
              <a:rPr lang="en-US" dirty="0"/>
            </a:br>
            <a:r>
              <a:rPr lang="en-US" dirty="0"/>
              <a:t>                      Use only licensed pictures!</a:t>
            </a:r>
          </a:p>
        </p:txBody>
      </p:sp>
      <p:sp>
        <p:nvSpPr>
          <p:cNvPr id="4" name="Text placeholder with brand">
            <a:extLst>
              <a:ext uri="{FF2B5EF4-FFF2-40B4-BE49-F238E27FC236}">
                <a16:creationId xmlns:a16="http://schemas.microsoft.com/office/drawing/2014/main" id="{217C621E-33AF-4FA1-BF28-B7DBAB839EBD}"/>
              </a:ext>
            </a:extLst>
          </p:cNvPr>
          <p:cNvSpPr>
            <a:spLocks noGrp="1" noMove="1" noResize="1"/>
          </p:cNvSpPr>
          <p:nvPr>
            <p:ph type="body" sz="quarter" idx="1" hasCustomPrompt="1"/>
          </p:nvPr>
        </p:nvSpPr>
        <p:spPr>
          <a:xfrm>
            <a:off x="5976000" y="288000"/>
            <a:ext cx="2879636" cy="4374488"/>
          </a:xfrm>
          <a:blipFill>
            <a:blip r:embed="rId2"/>
            <a:stretch>
              <a:fillRect/>
            </a:stretch>
          </a:blipFill>
        </p:spPr>
        <p:txBody>
          <a:bodyPr lIns="144000" tIns="1008000" r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Enter text (15pt)</a:t>
            </a:r>
            <a:br>
              <a:rPr lang="en-US" dirty="0"/>
            </a:br>
            <a:r>
              <a:rPr lang="en-US" dirty="0"/>
              <a:t>--Do not resize the placeholder! - The brand element must not be distorted!--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976000" y="288000"/>
            <a:ext cx="2880000" cy="828000"/>
          </a:xfrm>
        </p:spPr>
        <p:txBody>
          <a:bodyPr lIns="144000" tIns="144000"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(max. 2 lines)</a:t>
            </a:r>
          </a:p>
        </p:txBody>
      </p:sp>
    </p:spTree>
    <p:extLst>
      <p:ext uri="{BB962C8B-B14F-4D97-AF65-F5344CB8AC3E}">
        <p14:creationId xmlns:p14="http://schemas.microsoft.com/office/powerpoint/2010/main" val="3452777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46B80DCC-FAE4-4926-A573-EF8052DE74BB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  <a:endParaRPr lang="en-US" dirty="0"/>
          </a:p>
        </p:txBody>
      </p:sp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4B71E280-9623-4F29-8424-0016496D3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72BE70-174B-4BBD-B151-ECF97DA33D7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Text placeholder 1">
            <a:extLst>
              <a:ext uri="{FF2B5EF4-FFF2-40B4-BE49-F238E27FC236}">
                <a16:creationId xmlns:a16="http://schemas.microsoft.com/office/drawing/2014/main" id="{A8E1EC06-BDD0-464F-A7E1-302981335756}"/>
              </a:ext>
            </a:extLst>
          </p:cNvPr>
          <p:cNvSpPr>
            <a:spLocks noGrp="1"/>
          </p:cNvSpPr>
          <p:nvPr>
            <p:ph type="body" sz="quarter" idx="1" hasCustomPrompt="1"/>
          </p:nvPr>
        </p:nvSpPr>
        <p:spPr>
          <a:xfrm>
            <a:off x="6120000" y="1432800"/>
            <a:ext cx="3024000" cy="2329200"/>
          </a:xfrm>
          <a:solidFill>
            <a:schemeClr val="accent1"/>
          </a:solidFill>
        </p:spPr>
        <p:txBody>
          <a:bodyPr lIns="180000" anchor="ctr" anchorCtr="1"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270000" indent="0" algn="l">
              <a:buNone/>
              <a:defRPr>
                <a:solidFill>
                  <a:schemeClr val="bg1"/>
                </a:solidFill>
              </a:defRPr>
            </a:lvl2pPr>
            <a:lvl3pPr marL="450000" indent="0" algn="l">
              <a:buNone/>
              <a:defRPr>
                <a:solidFill>
                  <a:schemeClr val="bg1"/>
                </a:solidFill>
              </a:defRPr>
            </a:lvl3pPr>
            <a:lvl4pPr marL="630000" indent="0" algn="l">
              <a:buNone/>
              <a:defRPr>
                <a:solidFill>
                  <a:schemeClr val="bg1"/>
                </a:solidFill>
              </a:defRPr>
            </a:lvl4pPr>
            <a:lvl5pPr marL="810000" indent="0" algn="l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Enter text (15 pt)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Bildplatzhalter 1">
            <a:extLst>
              <a:ext uri="{FF2B5EF4-FFF2-40B4-BE49-F238E27FC236}">
                <a16:creationId xmlns:a16="http://schemas.microsoft.com/office/drawing/2014/main" id="{61FA4F4F-01D5-49D9-979E-64C25DDFB5A7}"/>
              </a:ext>
            </a:extLst>
          </p:cNvPr>
          <p:cNvSpPr>
            <a:spLocks noGrp="1"/>
          </p:cNvSpPr>
          <p:nvPr>
            <p:ph type="pic" sz="quarter" idx="2" hasCustomPrompt="1"/>
          </p:nvPr>
        </p:nvSpPr>
        <p:spPr>
          <a:xfrm>
            <a:off x="1800000" y="1432800"/>
            <a:ext cx="4320000" cy="2329200"/>
          </a:xfrm>
          <a:solidFill>
            <a:schemeClr val="bg1"/>
          </a:solidFill>
        </p:spPr>
        <p:txBody>
          <a:bodyPr/>
          <a:lstStyle>
            <a:lvl1pPr marL="0" indent="0" algn="ctr">
              <a:buNone/>
              <a:defRPr/>
            </a:lvl1pPr>
          </a:lstStyle>
          <a:p>
            <a:br>
              <a:rPr lang="en-US" dirty="0"/>
            </a:br>
            <a:r>
              <a:rPr lang="en-US" dirty="0"/>
              <a:t>Click on Icon to add a picture.</a:t>
            </a:r>
            <a:br>
              <a:rPr lang="en-US" dirty="0"/>
            </a:br>
            <a:r>
              <a:rPr lang="en-US" dirty="0"/>
              <a:t>Please follow the shortcut in your picture folder. Use only licensed pictures!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D810498A-D556-4FE4-82E8-590E97F059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Title</a:t>
            </a:r>
            <a:br>
              <a:rPr lang="en-US" dirty="0"/>
            </a:br>
            <a:r>
              <a:rPr lang="en-US" dirty="0"/>
              <a:t>(max. 2 lines)</a:t>
            </a:r>
          </a:p>
        </p:txBody>
      </p:sp>
      <p:sp>
        <p:nvSpPr>
          <p:cNvPr id="3" name="Chapter 1">
            <a:extLst>
              <a:ext uri="{FF2B5EF4-FFF2-40B4-BE49-F238E27FC236}">
                <a16:creationId xmlns:a16="http://schemas.microsoft.com/office/drawing/2014/main" id="{BD332ECF-F146-4117-8DF5-EFFF06300189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1953414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>
        <p:cut/>
      </p:transition>
    </mc:Choice>
    <mc:Fallback xmlns="">
      <p:transition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itle, Content and 1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en-US" dirty="0"/>
              <a:t>Enter text (no picture)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35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br>
              <a:rPr lang="en-US" dirty="0"/>
            </a:br>
            <a:r>
              <a:rPr lang="en-US" dirty="0"/>
              <a:t>Please follow the shortcut in your picture folder.</a:t>
            </a:r>
            <a:br>
              <a:rPr lang="en-US" dirty="0"/>
            </a:br>
            <a:r>
              <a:rPr lang="en-US" dirty="0"/>
              <a:t>Use only licensed pictures!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C2A4C484-345E-475C-A744-C0CEC2920B7B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hapter 1"/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318178945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dirty="0"/>
              <a:t>Enter text (no picture)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2930400"/>
            <a:ext cx="2304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86BD51C1-05DF-489C-93DD-15219AF13CF2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2A0F84D0-F6A3-4306-B077-4E59A6BFC472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20460375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en-US" dirty="0"/>
              <a:t>Enter text (no picture)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11340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23328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icon to add picture</a:t>
            </a:r>
            <a:endParaRPr dirty="0"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35316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E25CB090-82CD-45AF-BC92-6F69638EAD0E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8CCAE5B8-4748-4D90-B3E9-AF72F173A9E8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8747618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4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6336000" cy="702000"/>
          </a:xfrm>
        </p:spPr>
        <p:txBody>
          <a:bodyPr/>
          <a:lstStyle/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quarter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en-US" dirty="0"/>
              <a:t>Enter text (no picture)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1182000"/>
            <a:ext cx="2304000" cy="11268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/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2364000"/>
            <a:ext cx="2304000" cy="111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5" hasCustomPrompt="1"/>
          </p:nvPr>
        </p:nvSpPr>
        <p:spPr>
          <a:xfrm>
            <a:off x="6840000" y="3546000"/>
            <a:ext cx="2304000" cy="111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429A9ABC-4421-4570-9293-12F9E93EC016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814C6A53-1BC1-440B-9D8A-BF926FBFFC4E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25470944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and 5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0000" y="288000"/>
            <a:ext cx="6336000" cy="702000"/>
          </a:xfrm>
        </p:spPr>
        <p:txBody>
          <a:bodyPr/>
          <a:lstStyle>
            <a:lvl1pPr/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Content Placeholder 1"/>
          <p:cNvSpPr>
            <a:spLocks noGrp="1"/>
          </p:cNvSpPr>
          <p:nvPr>
            <p:ph sz="half" idx="1" hasCustomPrompt="1"/>
          </p:nvPr>
        </p:nvSpPr>
        <p:spPr>
          <a:xfrm>
            <a:off x="360000" y="1134000"/>
            <a:ext cx="6336000" cy="3528000"/>
          </a:xfrm>
        </p:spPr>
        <p:txBody>
          <a:bodyPr/>
          <a:lstStyle/>
          <a:p>
            <a:pPr lvl="0"/>
            <a:r>
              <a:rPr lang="en-US" dirty="0"/>
              <a:t>Enter text 15 pt (no picture)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1"/>
          <p:cNvSpPr>
            <a:spLocks noGrp="1"/>
          </p:cNvSpPr>
          <p:nvPr>
            <p:ph type="pic" sz="quarter" idx="2" hasCustomPrompt="1"/>
          </p:nvPr>
        </p:nvSpPr>
        <p:spPr>
          <a:xfrm>
            <a:off x="6840000" y="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</a:p>
        </p:txBody>
      </p:sp>
      <p:sp>
        <p:nvSpPr>
          <p:cNvPr id="8" name="Picture Placeholder 2"/>
          <p:cNvSpPr>
            <a:spLocks noGrp="1"/>
          </p:cNvSpPr>
          <p:nvPr>
            <p:ph type="pic" sz="quarter" idx="3" hasCustomPrompt="1"/>
          </p:nvPr>
        </p:nvSpPr>
        <p:spPr>
          <a:xfrm>
            <a:off x="6840000" y="9405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</a:p>
        </p:txBody>
      </p:sp>
      <p:sp>
        <p:nvSpPr>
          <p:cNvPr id="10" name="Picture Placeholder 3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18810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/>
          </a:p>
        </p:txBody>
      </p:sp>
      <p:sp>
        <p:nvSpPr>
          <p:cNvPr id="11" name="Picture Placeholder 4"/>
          <p:cNvSpPr>
            <a:spLocks noGrp="1"/>
          </p:cNvSpPr>
          <p:nvPr>
            <p:ph type="pic" sz="quarter" idx="5" hasCustomPrompt="1"/>
          </p:nvPr>
        </p:nvSpPr>
        <p:spPr>
          <a:xfrm>
            <a:off x="6840000" y="28215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</a:p>
        </p:txBody>
      </p:sp>
      <p:sp>
        <p:nvSpPr>
          <p:cNvPr id="12" name="Picture Placeholder 5"/>
          <p:cNvSpPr>
            <a:spLocks noGrp="1"/>
          </p:cNvSpPr>
          <p:nvPr>
            <p:ph type="pic" sz="quarter" idx="6" hasCustomPrompt="1"/>
          </p:nvPr>
        </p:nvSpPr>
        <p:spPr>
          <a:xfrm>
            <a:off x="6840000" y="3762000"/>
            <a:ext cx="2304000" cy="90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E1F69D2A-384F-4C01-B0F8-FC8876F70E7B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‹#›</a:t>
            </a:fld>
            <a:endParaRPr lang="en-US"/>
          </a:p>
        </p:txBody>
      </p:sp>
      <p:sp>
        <p:nvSpPr>
          <p:cNvPr id="4" name="Chapter 1">
            <a:extLst>
              <a:ext uri="{FF2B5EF4-FFF2-40B4-BE49-F238E27FC236}">
                <a16:creationId xmlns:a16="http://schemas.microsoft.com/office/drawing/2014/main" id="{00336B0E-1068-447F-8E91-8CC63D15ED02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89965220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6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7" name="Content Placeholder 1"/>
          <p:cNvSpPr>
            <a:spLocks noGrp="1" noChangeAspect="1" noResize="1" noAdjustHandles="1"/>
          </p:cNvSpPr>
          <p:nvPr>
            <p:ph sz="quarter" idx="2" hasCustomPrompt="1"/>
          </p:nvPr>
        </p:nvSpPr>
        <p:spPr>
          <a:xfrm>
            <a:off x="36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Enter content</a:t>
            </a:r>
          </a:p>
          <a:p>
            <a:pPr lvl="0"/>
            <a:endParaRPr lang="en-US" dirty="0"/>
          </a:p>
        </p:txBody>
      </p:sp>
      <p:sp>
        <p:nvSpPr>
          <p:cNvPr id="9" name="Content Placeholder 2"/>
          <p:cNvSpPr>
            <a:spLocks noGrp="1"/>
          </p:cNvSpPr>
          <p:nvPr>
            <p:ph sz="quarter" idx="3" hasCustomPrompt="1"/>
          </p:nvPr>
        </p:nvSpPr>
        <p:spPr>
          <a:xfrm>
            <a:off x="324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Enter content</a:t>
            </a:r>
          </a:p>
        </p:txBody>
      </p:sp>
      <p:sp>
        <p:nvSpPr>
          <p:cNvPr id="11" name="Content Placeholder 3"/>
          <p:cNvSpPr>
            <a:spLocks noGrp="1"/>
          </p:cNvSpPr>
          <p:nvPr>
            <p:ph sz="quarter" idx="4" hasCustomPrompt="1"/>
          </p:nvPr>
        </p:nvSpPr>
        <p:spPr>
          <a:xfrm>
            <a:off x="6120000" y="11340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Enter content</a:t>
            </a:r>
          </a:p>
        </p:txBody>
      </p:sp>
      <p:sp>
        <p:nvSpPr>
          <p:cNvPr id="8" name="Content Placeholder 4"/>
          <p:cNvSpPr>
            <a:spLocks noGrp="1"/>
          </p:cNvSpPr>
          <p:nvPr>
            <p:ph sz="quarter" idx="5" hasCustomPrompt="1"/>
          </p:nvPr>
        </p:nvSpPr>
        <p:spPr>
          <a:xfrm>
            <a:off x="36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Enter content</a:t>
            </a:r>
          </a:p>
        </p:txBody>
      </p:sp>
      <p:sp>
        <p:nvSpPr>
          <p:cNvPr id="10" name="Content Placeholder 5"/>
          <p:cNvSpPr>
            <a:spLocks noGrp="1"/>
          </p:cNvSpPr>
          <p:nvPr>
            <p:ph sz="quarter" idx="6" hasCustomPrompt="1"/>
          </p:nvPr>
        </p:nvSpPr>
        <p:spPr>
          <a:xfrm>
            <a:off x="324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Enter content</a:t>
            </a:r>
          </a:p>
        </p:txBody>
      </p:sp>
      <p:sp>
        <p:nvSpPr>
          <p:cNvPr id="12" name="Content Placeholder 6"/>
          <p:cNvSpPr>
            <a:spLocks noGrp="1"/>
          </p:cNvSpPr>
          <p:nvPr>
            <p:ph sz="quarter" idx="7" hasCustomPrompt="1"/>
          </p:nvPr>
        </p:nvSpPr>
        <p:spPr>
          <a:xfrm>
            <a:off x="6120000" y="2930400"/>
            <a:ext cx="2736000" cy="1728000"/>
          </a:xfrm>
        </p:spPr>
        <p:txBody>
          <a:bodyPr/>
          <a:lstStyle>
            <a:lvl1pPr marL="0" indent="0">
              <a:buFontTx/>
              <a:buNone/>
              <a:defRPr/>
            </a:lvl1pPr>
            <a:lvl2pPr marL="0" indent="0">
              <a:buFontTx/>
              <a:buNone/>
              <a:defRPr/>
            </a:lvl2pPr>
            <a:lvl3pPr marL="0" indent="0">
              <a:buFontTx/>
              <a:buNone/>
              <a:defRPr/>
            </a:lvl3pPr>
            <a:lvl4pPr marL="0" indent="0">
              <a:buFontTx/>
              <a:buNone/>
              <a:defRPr/>
            </a:lvl4pPr>
            <a:lvl5pPr marL="0" indent="0">
              <a:buFontTx/>
              <a:buNone/>
              <a:defRPr/>
            </a:lvl5pPr>
          </a:lstStyle>
          <a:p>
            <a:pPr lvl="0"/>
            <a:r>
              <a:rPr lang="en-US" dirty="0"/>
              <a:t>Enter content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FFBD991D-3FF0-4DC9-903D-2DC9EC71BB08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C95EBED2-D162-4F24-BA4E-101A83BBC65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48069600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1950">
          <p15:clr>
            <a:srgbClr val="A4A3A4"/>
          </p15:clr>
        </p15:guide>
        <p15:guide id="2" pos="2041">
          <p15:clr>
            <a:srgbClr val="A4A3A4"/>
          </p15:clr>
        </p15:guide>
        <p15:guide id="3" pos="3764">
          <p15:clr>
            <a:srgbClr val="A4A3A4"/>
          </p15:clr>
        </p15:guide>
        <p15:guide id="4" pos="3855">
          <p15:clr>
            <a:srgbClr val="A4A3A4"/>
          </p15:clr>
        </p15:guide>
        <p15:guide id="5" orient="horz" pos="1803">
          <p15:clr>
            <a:srgbClr val="A4A3A4"/>
          </p15:clr>
        </p15:guide>
        <p15:guide id="6" orient="horz" pos="1846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8 Pictures wit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7" name="Picture Placeholder 1"/>
          <p:cNvSpPr>
            <a:spLocks noGrp="1"/>
          </p:cNvSpPr>
          <p:nvPr>
            <p:ph type="pic" sz="quarter" idx="1" hasCustomPrompt="1"/>
          </p:nvPr>
        </p:nvSpPr>
        <p:spPr>
          <a:xfrm>
            <a:off x="36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endParaRPr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sz="quarter" idx="2" hasCustomPrompt="1"/>
          </p:nvPr>
        </p:nvSpPr>
        <p:spPr>
          <a:xfrm>
            <a:off x="252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endParaRPr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sz="quarter" idx="3" hasCustomPrompt="1"/>
          </p:nvPr>
        </p:nvSpPr>
        <p:spPr>
          <a:xfrm>
            <a:off x="468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endParaRPr dirty="0"/>
          </a:p>
        </p:txBody>
      </p:sp>
      <p:sp>
        <p:nvSpPr>
          <p:cNvPr id="13" name="Picture Placeholder 4"/>
          <p:cNvSpPr>
            <a:spLocks noGrp="1"/>
          </p:cNvSpPr>
          <p:nvPr>
            <p:ph type="pic" sz="quarter" idx="4" hasCustomPrompt="1"/>
          </p:nvPr>
        </p:nvSpPr>
        <p:spPr>
          <a:xfrm>
            <a:off x="6840000" y="11340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endParaRPr dirty="0"/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5" hasCustomPrompt="1"/>
          </p:nvPr>
        </p:nvSpPr>
        <p:spPr>
          <a:xfrm>
            <a:off x="36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 dirty="0"/>
          </a:p>
        </p:txBody>
      </p:sp>
      <p:sp>
        <p:nvSpPr>
          <p:cNvPr id="35" name="Picture Placeholder 6"/>
          <p:cNvSpPr>
            <a:spLocks noGrp="1"/>
          </p:cNvSpPr>
          <p:nvPr>
            <p:ph type="pic" sz="quarter" idx="6" hasCustomPrompt="1"/>
          </p:nvPr>
        </p:nvSpPr>
        <p:spPr>
          <a:xfrm>
            <a:off x="252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/>
              <a:t>Click on Icon to add a picture.</a:t>
            </a:r>
            <a:endParaRPr/>
          </a:p>
        </p:txBody>
      </p:sp>
      <p:sp>
        <p:nvSpPr>
          <p:cNvPr id="37" name="Bildplatzhalter 7"/>
          <p:cNvSpPr>
            <a:spLocks noGrp="1"/>
          </p:cNvSpPr>
          <p:nvPr>
            <p:ph type="pic" sz="quarter" idx="7" hasCustomPrompt="1"/>
          </p:nvPr>
        </p:nvSpPr>
        <p:spPr>
          <a:xfrm>
            <a:off x="468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 dirty="0"/>
              <a:t>CClick on Icon to add a picture.</a:t>
            </a:r>
            <a:endParaRPr dirty="0"/>
          </a:p>
        </p:txBody>
      </p:sp>
      <p:sp>
        <p:nvSpPr>
          <p:cNvPr id="14" name="Picture Placeholder 8"/>
          <p:cNvSpPr>
            <a:spLocks noGrp="1"/>
          </p:cNvSpPr>
          <p:nvPr>
            <p:ph type="pic" sz="quarter" idx="8" hasCustomPrompt="1"/>
          </p:nvPr>
        </p:nvSpPr>
        <p:spPr>
          <a:xfrm>
            <a:off x="6840000" y="2930400"/>
            <a:ext cx="2016000" cy="1368000"/>
          </a:xfrm>
        </p:spPr>
        <p:txBody>
          <a:bodyPr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/>
            </a:lvl1pPr>
          </a:lstStyle>
          <a:p>
            <a:r>
              <a:rPr lang="en-US" dirty="0"/>
              <a:t>Click on Icon to add a picture.</a:t>
            </a:r>
            <a:endParaRPr dirty="0"/>
          </a:p>
        </p:txBody>
      </p:sp>
      <p:sp>
        <p:nvSpPr>
          <p:cNvPr id="15" name="Text Placeholder 1"/>
          <p:cNvSpPr>
            <a:spLocks noGrp="1"/>
          </p:cNvSpPr>
          <p:nvPr>
            <p:ph type="body" idx="13" hasCustomPrompt="1"/>
          </p:nvPr>
        </p:nvSpPr>
        <p:spPr>
          <a:xfrm>
            <a:off x="36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(12 pt, max. 2 lines)</a:t>
            </a:r>
          </a:p>
          <a:p>
            <a:pPr lvl="1"/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idx="14" hasCustomPrompt="1"/>
          </p:nvPr>
        </p:nvSpPr>
        <p:spPr>
          <a:xfrm>
            <a:off x="252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(12 pt, max. 2 lines)</a:t>
            </a:r>
          </a:p>
          <a:p>
            <a:pPr lvl="1"/>
            <a:endParaRPr lang="en-US" dirty="0"/>
          </a:p>
        </p:txBody>
      </p:sp>
      <p:sp>
        <p:nvSpPr>
          <p:cNvPr id="19" name="Text Placeholder 3"/>
          <p:cNvSpPr>
            <a:spLocks noGrp="1"/>
          </p:cNvSpPr>
          <p:nvPr>
            <p:ph type="body" idx="15" hasCustomPrompt="1"/>
          </p:nvPr>
        </p:nvSpPr>
        <p:spPr>
          <a:xfrm>
            <a:off x="468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(12 pt, max. 2 lines)</a:t>
            </a:r>
          </a:p>
          <a:p>
            <a:pPr lvl="1"/>
            <a:endParaRPr lang="en-US" dirty="0"/>
          </a:p>
        </p:txBody>
      </p:sp>
      <p:sp>
        <p:nvSpPr>
          <p:cNvPr id="21" name="Text Placeholder 4"/>
          <p:cNvSpPr>
            <a:spLocks noGrp="1"/>
          </p:cNvSpPr>
          <p:nvPr>
            <p:ph type="body" idx="16" hasCustomPrompt="1"/>
          </p:nvPr>
        </p:nvSpPr>
        <p:spPr>
          <a:xfrm>
            <a:off x="6840000" y="25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(max. 2 lines)</a:t>
            </a:r>
          </a:p>
          <a:p>
            <a:pPr lvl="1"/>
            <a:endParaRPr lang="en-US" dirty="0"/>
          </a:p>
        </p:txBody>
      </p:sp>
      <p:sp>
        <p:nvSpPr>
          <p:cNvPr id="16" name="Text Placeholder 5"/>
          <p:cNvSpPr>
            <a:spLocks noGrp="1"/>
          </p:cNvSpPr>
          <p:nvPr>
            <p:ph type="body" idx="17" hasCustomPrompt="1"/>
          </p:nvPr>
        </p:nvSpPr>
        <p:spPr>
          <a:xfrm>
            <a:off x="356400" y="4338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(max. 2 lines)</a:t>
            </a:r>
          </a:p>
          <a:p>
            <a:pPr lvl="1"/>
            <a:endParaRPr lang="en-US" dirty="0"/>
          </a:p>
        </p:txBody>
      </p:sp>
      <p:sp>
        <p:nvSpPr>
          <p:cNvPr id="18" name="Text Placeholder 6"/>
          <p:cNvSpPr>
            <a:spLocks noGrp="1"/>
          </p:cNvSpPr>
          <p:nvPr>
            <p:ph type="body" idx="18" hasCustomPrompt="1"/>
          </p:nvPr>
        </p:nvSpPr>
        <p:spPr>
          <a:xfrm>
            <a:off x="252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(max. 2 lines)</a:t>
            </a:r>
          </a:p>
          <a:p>
            <a:pPr lvl="1"/>
            <a:endParaRPr lang="en-US" dirty="0"/>
          </a:p>
        </p:txBody>
      </p:sp>
      <p:sp>
        <p:nvSpPr>
          <p:cNvPr id="20" name="Text Placeholder 7"/>
          <p:cNvSpPr>
            <a:spLocks noGrp="1"/>
          </p:cNvSpPr>
          <p:nvPr>
            <p:ph type="body" idx="19" hasCustomPrompt="1"/>
          </p:nvPr>
        </p:nvSpPr>
        <p:spPr>
          <a:xfrm>
            <a:off x="468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(max. 2 lines)</a:t>
            </a:r>
          </a:p>
          <a:p>
            <a:pPr lvl="1"/>
            <a:endParaRPr lang="en-US" dirty="0"/>
          </a:p>
        </p:txBody>
      </p:sp>
      <p:sp>
        <p:nvSpPr>
          <p:cNvPr id="22" name="Text Placeholder 8"/>
          <p:cNvSpPr>
            <a:spLocks noGrp="1"/>
          </p:cNvSpPr>
          <p:nvPr>
            <p:ph type="body" idx="20" hasCustomPrompt="1"/>
          </p:nvPr>
        </p:nvSpPr>
        <p:spPr>
          <a:xfrm>
            <a:off x="6840000" y="4336000"/>
            <a:ext cx="2016000" cy="324000"/>
          </a:xfrm>
        </p:spPr>
        <p:txBody>
          <a:bodyPr anchor="t"/>
          <a:lstStyle>
            <a:lvl1pPr marL="0" indent="0">
              <a:lnSpc>
                <a:spcPct val="90000"/>
              </a:lnSpc>
              <a:spcAft>
                <a:spcPts val="0"/>
              </a:spcAft>
              <a:buFontTx/>
              <a:buNone/>
              <a:defRPr sz="1200" b="0"/>
            </a:lvl1pPr>
            <a:lvl2pPr marL="0" indent="0" algn="r" rtl="1">
              <a:lnSpc>
                <a:spcPct val="100000"/>
              </a:lnSpc>
              <a:buFontTx/>
              <a:buNone/>
              <a:defRPr sz="1200" b="0"/>
            </a:lvl2pPr>
            <a:lvl3pPr marL="0" indent="0">
              <a:lnSpc>
                <a:spcPct val="100000"/>
              </a:lnSpc>
              <a:buFontTx/>
              <a:buNone/>
              <a:defRPr/>
            </a:lvl3pPr>
            <a:lvl4pPr marL="0" indent="0">
              <a:lnSpc>
                <a:spcPct val="100000"/>
              </a:lnSpc>
              <a:buNone/>
              <a:defRPr/>
            </a:lvl4pPr>
            <a:lvl5pPr marL="0" indent="0">
              <a:lnSpc>
                <a:spcPct val="100000"/>
              </a:lnSpc>
              <a:buFontTx/>
              <a:buNone/>
              <a:defRPr/>
            </a:lvl5pPr>
            <a:lvl6pPr marL="0" indent="0">
              <a:lnSpc>
                <a:spcPct val="100000"/>
              </a:lnSpc>
              <a:buFontTx/>
              <a:buNone/>
              <a:defRPr/>
            </a:lvl6pPr>
          </a:lstStyle>
          <a:p>
            <a:pPr lvl="0"/>
            <a:r>
              <a:rPr lang="en-US" dirty="0"/>
              <a:t>Enter caption</a:t>
            </a:r>
            <a:br>
              <a:rPr lang="en-US" dirty="0"/>
            </a:br>
            <a:r>
              <a:rPr lang="en-US" dirty="0"/>
              <a:t>(max. 2 lines)</a:t>
            </a:r>
          </a:p>
          <a:p>
            <a:pPr lvl="1"/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ctr"/>
            <a:fld id="{AAE7BDD3-9F17-4615-80BE-863F885460DE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Chapter 1">
            <a:extLst>
              <a:ext uri="{FF2B5EF4-FFF2-40B4-BE49-F238E27FC236}">
                <a16:creationId xmlns:a16="http://schemas.microsoft.com/office/drawing/2014/main" id="{BCD41B3E-B487-42DF-B17F-B8D118B40540}"/>
              </a:ext>
            </a:extLst>
          </p:cNvPr>
          <p:cNvSpPr>
            <a:spLocks noGrp="1"/>
          </p:cNvSpPr>
          <p:nvPr>
            <p:ph type="body" sz="quarter" idx="9" hasCustomPrompt="1"/>
          </p:nvPr>
        </p:nvSpPr>
        <p:spPr>
          <a:xfrm>
            <a:off x="360000" y="36000"/>
            <a:ext cx="3168000" cy="205200"/>
          </a:xfrm>
        </p:spPr>
        <p:txBody>
          <a:bodyPr wrap="none">
            <a:noAutofit/>
          </a:bodyPr>
          <a:lstStyle>
            <a:lvl1pPr marL="0" indent="0">
              <a:buNone/>
              <a:defRPr sz="1400" spc="80" baseline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 sz="1400" dirty="0"/>
              <a:t>Text 14 pt, e.g. chapter no. &amp; chapter</a:t>
            </a:r>
          </a:p>
        </p:txBody>
      </p:sp>
    </p:spTree>
    <p:extLst>
      <p:ext uri="{BB962C8B-B14F-4D97-AF65-F5344CB8AC3E}">
        <p14:creationId xmlns:p14="http://schemas.microsoft.com/office/powerpoint/2010/main" val="24946232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EDDAF7C-5844-47C3-AA39-204854E3567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b="915"/>
          <a:stretch/>
        </p:blipFill>
        <p:spPr>
          <a:xfrm>
            <a:off x="0" y="0"/>
            <a:ext cx="915072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pPr algn="ctr"/>
            <a:fld id="{2ED250B0-E528-48EA-9087-47633BBAD33D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en-US"/>
              <a:t>R&amp;S®ScopeStudio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E64086BA-F4C1-4466-B31C-C9232764D35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Raute 1">
            <a:extLst>
              <a:ext uri="{FF2B5EF4-FFF2-40B4-BE49-F238E27FC236}">
                <a16:creationId xmlns:a16="http://schemas.microsoft.com/office/drawing/2014/main" id="{8F459315-666A-4822-B41A-83E6B32BE00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98633"/>
            <a:ext cx="251805" cy="252000"/>
          </a:xfrm>
          <a:prstGeom prst="rect">
            <a:avLst/>
          </a:prstGeom>
        </p:spPr>
      </p:pic>
      <p:sp>
        <p:nvSpPr>
          <p:cNvPr id="11" name="RS">
            <a:extLst>
              <a:ext uri="{FF2B5EF4-FFF2-40B4-BE49-F238E27FC236}">
                <a16:creationId xmlns:a16="http://schemas.microsoft.com/office/drawing/2014/main" id="{2B742260-1928-4B12-B3BD-0D3B41D1A468}"/>
              </a:ext>
            </a:extLst>
          </p:cNvPr>
          <p:cNvSpPr txBox="1"/>
          <p:nvPr userDrawn="1"/>
        </p:nvSpPr>
        <p:spPr>
          <a:xfrm>
            <a:off x="918000" y="4842100"/>
            <a:ext cx="1114000" cy="153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>
                <a:solidFill>
                  <a:schemeClr val="bg1">
                    <a:lumMod val="95000"/>
                  </a:schemeClr>
                </a:solidFill>
                <a:latin typeface="Linotype Univers 420 Condensed" panose="020B0506030202020203" pitchFamily="34" charset="0"/>
              </a:rPr>
              <a:t>Rohde &amp; Schwarz</a:t>
            </a:r>
          </a:p>
        </p:txBody>
      </p:sp>
      <p:sp>
        <p:nvSpPr>
          <p:cNvPr id="6" name="Text Placeholder 1">
            <a:extLst>
              <a:ext uri="{FF2B5EF4-FFF2-40B4-BE49-F238E27FC236}">
                <a16:creationId xmlns:a16="http://schemas.microsoft.com/office/drawing/2014/main" id="{C2E7ACFD-D41E-BFE0-57AD-7B997D4D1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134000"/>
            <a:ext cx="8496000" cy="35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 dirty="0"/>
              <a:t>Enter text (15 pt) or define content via symbol in the middle. (Pictures: Please follow the shortcut in your picture folder. Use only licensed pictures!)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876632643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590">
          <p15:clr>
            <a:srgbClr val="A4A3A4"/>
          </p15:clr>
        </p15:guide>
        <p15:guide id="2" pos="680">
          <p15:clr>
            <a:srgbClr val="A4A3A4"/>
          </p15:clr>
        </p15:guide>
        <p15:guide id="3" pos="1043">
          <p15:clr>
            <a:srgbClr val="A4A3A4"/>
          </p15:clr>
        </p15:guide>
        <p15:guide id="4" pos="1134">
          <p15:clr>
            <a:srgbClr val="A4A3A4"/>
          </p15:clr>
        </p15:guide>
        <p15:guide id="5" pos="1497">
          <p15:clr>
            <a:srgbClr val="A4A3A4"/>
          </p15:clr>
        </p15:guide>
        <p15:guide id="6" pos="1587">
          <p15:clr>
            <a:srgbClr val="A4A3A4"/>
          </p15:clr>
        </p15:guide>
        <p15:guide id="7" pos="1950">
          <p15:clr>
            <a:srgbClr val="A4A3A4"/>
          </p15:clr>
        </p15:guide>
        <p15:guide id="8" pos="2041">
          <p15:clr>
            <a:srgbClr val="A4A3A4"/>
          </p15:clr>
        </p15:guide>
        <p15:guide id="9" pos="2404">
          <p15:clr>
            <a:srgbClr val="A4A3A4"/>
          </p15:clr>
        </p15:guide>
        <p15:guide id="10" pos="2494">
          <p15:clr>
            <a:srgbClr val="A4A3A4"/>
          </p15:clr>
        </p15:guide>
        <p15:guide id="11" pos="2857">
          <p15:clr>
            <a:srgbClr val="A4A3A4"/>
          </p15:clr>
        </p15:guide>
        <p15:guide id="12" pos="2948">
          <p15:clr>
            <a:srgbClr val="A4A3A4"/>
          </p15:clr>
        </p15:guide>
        <p15:guide id="13" pos="3311">
          <p15:clr>
            <a:srgbClr val="A4A3A4"/>
          </p15:clr>
        </p15:guide>
        <p15:guide id="14" pos="3402">
          <p15:clr>
            <a:srgbClr val="A4A3A4"/>
          </p15:clr>
        </p15:guide>
        <p15:guide id="15" pos="3764">
          <p15:clr>
            <a:srgbClr val="A4A3A4"/>
          </p15:clr>
        </p15:guide>
        <p15:guide id="16" pos="3855">
          <p15:clr>
            <a:srgbClr val="A4A3A4"/>
          </p15:clr>
        </p15:guide>
        <p15:guide id="17" pos="4218">
          <p15:clr>
            <a:srgbClr val="A4A3A4"/>
          </p15:clr>
        </p15:guide>
        <p15:guide id="18" pos="4309">
          <p15:clr>
            <a:srgbClr val="A4A3A4"/>
          </p15:clr>
        </p15:guide>
        <p15:guide id="19" pos="4671">
          <p15:clr>
            <a:srgbClr val="A4A3A4"/>
          </p15:clr>
        </p15:guide>
        <p15:guide id="20" pos="4762">
          <p15:clr>
            <a:srgbClr val="A4A3A4"/>
          </p15:clr>
        </p15:guide>
        <p15:guide id="21" pos="5125">
          <p15:clr>
            <a:srgbClr val="A4A3A4"/>
          </p15:clr>
        </p15:guide>
        <p15:guide id="22" pos="5216">
          <p15:clr>
            <a:srgbClr val="A4A3A4"/>
          </p15:clr>
        </p15:guide>
        <p15:guide id="23" orient="horz" pos="1803">
          <p15:clr>
            <a:srgbClr val="A4A3A4"/>
          </p15:clr>
        </p15:guide>
        <p15:guide id="24" orient="horz" pos="1846">
          <p15:clr>
            <a:srgbClr val="A4A3A4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Raute 1">
            <a:extLst>
              <a:ext uri="{FF2B5EF4-FFF2-40B4-BE49-F238E27FC236}">
                <a16:creationId xmlns:a16="http://schemas.microsoft.com/office/drawing/2014/main" id="{13371E05-40BC-45CB-B6D8-96C90AA66DBF}"/>
              </a:ext>
            </a:extLst>
          </p:cNvPr>
          <p:cNvPicPr>
            <a:picLocks noChangeAspect="1"/>
          </p:cNvPicPr>
          <p:nvPr/>
        </p:nvPicPr>
        <p:blipFill>
          <a:blip r:embed="rId2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000" y="4798633"/>
            <a:ext cx="251805" cy="252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0000" y="288000"/>
            <a:ext cx="8496000" cy="702000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Enter slide title</a:t>
            </a:r>
            <a:br>
              <a:rPr lang="en-US" dirty="0"/>
            </a:br>
            <a:r>
              <a:rPr lang="en-US" dirty="0"/>
              <a:t>(27 pt, bold, max. 2 lines)</a:t>
            </a:r>
          </a:p>
        </p:txBody>
      </p:sp>
      <p:sp>
        <p:nvSpPr>
          <p:cNvPr id="3" name="Text Placeholder 1"/>
          <p:cNvSpPr>
            <a:spLocks noGrp="1"/>
          </p:cNvSpPr>
          <p:nvPr>
            <p:ph type="body" idx="1"/>
          </p:nvPr>
        </p:nvSpPr>
        <p:spPr>
          <a:xfrm>
            <a:off x="360000" y="1134000"/>
            <a:ext cx="8496000" cy="3528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Enter text (15 pt) or define content via symbol in the middle. (Pictures: Please follow the shortcut in your picture folder. Use only licensed pictures!)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6</a:t>
            </a:r>
          </a:p>
          <a:p>
            <a:pPr lvl="6"/>
            <a:r>
              <a:rPr lang="en-US" dirty="0"/>
              <a:t>7</a:t>
            </a:r>
          </a:p>
          <a:p>
            <a:pPr lvl="7"/>
            <a:r>
              <a:rPr lang="en-US" dirty="0"/>
              <a:t>8</a:t>
            </a:r>
          </a:p>
          <a:p>
            <a:pPr lvl="8"/>
            <a:r>
              <a:rPr lang="en-US" dirty="0"/>
              <a:t>9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034000" y="4860000"/>
            <a:ext cx="826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>
              <a:defRPr lang="en-US" sz="1000" smtClean="0">
                <a:solidFill>
                  <a:schemeClr val="tx1"/>
                </a:solidFill>
              </a:defRPr>
            </a:lvl1pPr>
          </a:lstStyle>
          <a:p>
            <a:pPr algn="ctr"/>
            <a:fld id="{9FDCFC66-ECC4-4616-B375-34CE54359099}" type="datetime1">
              <a:rPr lang="en-GB" smtClean="0"/>
              <a:t>16/09/2024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62000" y="4860000"/>
            <a:ext cx="2952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r>
              <a:rPr lang="en-US"/>
              <a:t>R&amp;S®ScopeStudio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66000" y="4860000"/>
            <a:ext cx="252000" cy="135000"/>
          </a:xfrm>
          <a:prstGeom prst="rect">
            <a:avLst/>
          </a:prstGeom>
        </p:spPr>
        <p:txBody>
          <a:bodyPr vert="horz" wrap="none" lIns="0" tIns="0" rIns="0" bIns="0" rtlCol="0" anchor="t" anchorCtr="0"/>
          <a:lstStyle>
            <a:lvl1pPr algn="l">
              <a:defRPr lang="en-US" sz="1000" smtClean="0">
                <a:solidFill>
                  <a:schemeClr val="tx1"/>
                </a:solidFill>
              </a:defRPr>
            </a:lvl1pPr>
          </a:lstStyle>
          <a:p>
            <a:fld id="{57CB76AC-E5DF-427C-ABDC-2F4FBD8E4B6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S">
            <a:extLst>
              <a:ext uri="{FF2B5EF4-FFF2-40B4-BE49-F238E27FC236}">
                <a16:creationId xmlns:a16="http://schemas.microsoft.com/office/drawing/2014/main" id="{029FCEA5-63CE-4A2B-91C7-30BE6804F8A6}"/>
              </a:ext>
            </a:extLst>
          </p:cNvPr>
          <p:cNvSpPr txBox="1"/>
          <p:nvPr/>
        </p:nvSpPr>
        <p:spPr>
          <a:xfrm>
            <a:off x="918000" y="4842100"/>
            <a:ext cx="1114000" cy="1530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>
              <a:lnSpc>
                <a:spcPct val="120000"/>
              </a:lnSpc>
            </a:pPr>
            <a:r>
              <a:rPr lang="en-US" sz="1000" dirty="0"/>
              <a:t>Rohde &amp; Schwarz</a:t>
            </a:r>
          </a:p>
        </p:txBody>
      </p:sp>
    </p:spTree>
    <p:extLst>
      <p:ext uri="{BB962C8B-B14F-4D97-AF65-F5344CB8AC3E}">
        <p14:creationId xmlns:p14="http://schemas.microsoft.com/office/powerpoint/2010/main" val="420024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700" b="1" kern="1200" cap="all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52000" indent="-252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Arial" panose="020B0604020202020204" pitchFamily="34" charset="0"/>
        <a:buChar char="►"/>
        <a:defRPr sz="1500" b="0" kern="1200">
          <a:solidFill>
            <a:schemeClr val="tx1"/>
          </a:solidFill>
          <a:latin typeface="+mn-lt"/>
          <a:ea typeface="+mn-ea"/>
          <a:cs typeface="+mn-cs"/>
        </a:defRPr>
      </a:lvl1pPr>
      <a:lvl2pPr marL="45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63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81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99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17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135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153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1710000" indent="-180000" algn="l" defTabSz="914400" rtl="0" eaLnBrk="1" latinLnBrk="0" hangingPunct="1">
        <a:lnSpc>
          <a:spcPct val="105000"/>
        </a:lnSpc>
        <a:spcBef>
          <a:spcPts val="0"/>
        </a:spcBef>
        <a:spcAft>
          <a:spcPts val="400"/>
        </a:spcAft>
        <a:buSzPct val="90000"/>
        <a:buFont typeface="Symbol" panose="05050102010706020507" pitchFamily="18" charset="2"/>
        <a:buChar char="-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2" pos="227">
          <p15:clr>
            <a:srgbClr val="F26B43"/>
          </p15:clr>
        </p15:guide>
        <p15:guide id="3" pos="5580">
          <p15:clr>
            <a:srgbClr val="F26B43"/>
          </p15:clr>
        </p15:guide>
        <p15:guide id="4" orient="horz" pos="181">
          <p15:clr>
            <a:srgbClr val="F26B43"/>
          </p15:clr>
        </p15:guide>
        <p15:guide id="5" orient="horz" pos="624">
          <p15:clr>
            <a:srgbClr val="F26B43"/>
          </p15:clr>
        </p15:guide>
        <p15:guide id="6" orient="horz" pos="714">
          <p15:clr>
            <a:srgbClr val="F26B43"/>
          </p15:clr>
        </p15:guide>
        <p15:guide id="7" orient="horz" pos="293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3.xml"/><Relationship Id="rId7" Type="http://schemas.openxmlformats.org/officeDocument/2006/relationships/image" Target="../media/image15.png"/><Relationship Id="rId2" Type="http://schemas.openxmlformats.org/officeDocument/2006/relationships/tags" Target="../tags/tag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5.xml"/><Relationship Id="rId7" Type="http://schemas.openxmlformats.org/officeDocument/2006/relationships/image" Target="../media/image15.png"/><Relationship Id="rId2" Type="http://schemas.openxmlformats.org/officeDocument/2006/relationships/tags" Target="../tags/tag4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tags" Target="../tags/tag7.xml"/><Relationship Id="rId7" Type="http://schemas.openxmlformats.org/officeDocument/2006/relationships/image" Target="../media/image15.png"/><Relationship Id="rId2" Type="http://schemas.openxmlformats.org/officeDocument/2006/relationships/tags" Target="../tags/tag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emf"/><Relationship Id="rId11" Type="http://schemas.openxmlformats.org/officeDocument/2006/relationships/image" Target="../media/image17.png"/><Relationship Id="rId5" Type="http://schemas.openxmlformats.org/officeDocument/2006/relationships/oleObject" Target="../embeddings/oleObject1.bin"/><Relationship Id="rId10" Type="http://schemas.openxmlformats.org/officeDocument/2006/relationships/image" Target="../media/image19.png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tags" Target="../tags/tag9.xml"/><Relationship Id="rId7" Type="http://schemas.openxmlformats.org/officeDocument/2006/relationships/image" Target="../media/image15.png"/><Relationship Id="rId2" Type="http://schemas.openxmlformats.org/officeDocument/2006/relationships/tags" Target="../tags/tag8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tags" Target="../tags/tag11.xml"/><Relationship Id="rId7" Type="http://schemas.openxmlformats.org/officeDocument/2006/relationships/image" Target="../media/image15.png"/><Relationship Id="rId2" Type="http://schemas.openxmlformats.org/officeDocument/2006/relationships/tags" Target="../tags/tag10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.bin"/><Relationship Id="rId4" Type="http://schemas.openxmlformats.org/officeDocument/2006/relationships/slideLayout" Target="../slideLayouts/slideLayout6.xml"/><Relationship Id="rId9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valuetronics.com/product/maui-studio-pro-teledyne-lecroy-software-new" TargetMode="Externa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7" Type="http://schemas.microsoft.com/office/2007/relationships/hdphoto" Target="../media/hdphoto1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jpeg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3.xml"/><Relationship Id="rId5" Type="http://schemas.openxmlformats.org/officeDocument/2006/relationships/image" Target="../media/image11.png"/><Relationship Id="rId4" Type="http://schemas.openxmlformats.org/officeDocument/2006/relationships/image" Target="../media/image36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D960CF-3F26-4002-B2DF-005A2CA9F0C9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GB" dirty="0"/>
              <a:t>Designed for the fastest oscilloscopes on the market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93BD5-2ED9-4FE0-BE14-45C5AB51154B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r>
              <a:rPr lang="en-GB" dirty="0"/>
              <a:t>Luca Gragnaniello (1TDP)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006117C-D561-460C-8F70-BD2FDAC756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solidFill>
                  <a:srgbClr val="FFFF00"/>
                </a:solidFill>
              </a:rPr>
              <a:t>R&amp;S</a:t>
            </a:r>
            <a:r>
              <a:rPr lang="en-US" baseline="30000" dirty="0" err="1">
                <a:solidFill>
                  <a:srgbClr val="FFFF00"/>
                </a:solidFill>
              </a:rPr>
              <a:t>®</a:t>
            </a:r>
            <a:r>
              <a:rPr lang="en-US" dirty="0" err="1">
                <a:solidFill>
                  <a:srgbClr val="FFFF00"/>
                </a:solidFill>
              </a:rPr>
              <a:t>scopestudio</a:t>
            </a:r>
            <a:r>
              <a:rPr lang="en-US" dirty="0">
                <a:solidFill>
                  <a:srgbClr val="FFFF00"/>
                </a:solidFill>
              </a:rPr>
              <a:t> </a:t>
            </a:r>
            <a:br>
              <a:rPr lang="en-US" dirty="0">
                <a:solidFill>
                  <a:srgbClr val="FFFF00"/>
                </a:solidFill>
              </a:rPr>
            </a:br>
            <a:r>
              <a:rPr lang="en-US" dirty="0"/>
              <a:t>offline scope software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6902D5-C7AA-4344-9F89-9834465575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990000"/>
            <a:ext cx="2808312" cy="2338495"/>
          </a:xfrm>
          <a:prstGeom prst="rect">
            <a:avLst/>
          </a:prstGeom>
        </p:spPr>
      </p:pic>
      <p:sp>
        <p:nvSpPr>
          <p:cNvPr id="6" name="RS_Classification">
            <a:extLst>
              <a:ext uri="{FF2B5EF4-FFF2-40B4-BE49-F238E27FC236}">
                <a16:creationId xmlns:a16="http://schemas.microsoft.com/office/drawing/2014/main" id="{178E74F9-8574-30C7-F731-D797E70A075D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</p:spTree>
    <p:extLst>
      <p:ext uri="{BB962C8B-B14F-4D97-AF65-F5344CB8AC3E}">
        <p14:creationId xmlns:p14="http://schemas.microsoft.com/office/powerpoint/2010/main" val="13642646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45D7FA19-7043-4344-8FE0-735FF0C67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2F5AAB6-1586-44B3-A1CE-D644386DB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GB" dirty="0"/>
              <a:t>Why do we need an offline software?</a:t>
            </a:r>
          </a:p>
          <a:p>
            <a:pPr>
              <a:lnSpc>
                <a:spcPct val="150000"/>
              </a:lnSpc>
            </a:pPr>
            <a:r>
              <a:rPr lang="en-GB" dirty="0"/>
              <a:t>Concept of </a:t>
            </a:r>
            <a:r>
              <a:rPr lang="en-US" dirty="0"/>
              <a:t>R&amp;S</a:t>
            </a:r>
            <a:r>
              <a:rPr lang="en-US" baseline="30000" dirty="0"/>
              <a:t>®</a:t>
            </a:r>
            <a:r>
              <a:rPr lang="en-GB" dirty="0" err="1"/>
              <a:t>ScopeStudio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GB" dirty="0"/>
              <a:t>Competitor landscape </a:t>
            </a:r>
          </a:p>
          <a:p>
            <a:pPr>
              <a:lnSpc>
                <a:spcPct val="150000"/>
              </a:lnSpc>
            </a:pPr>
            <a:r>
              <a:rPr lang="en-GB" dirty="0"/>
              <a:t>Roadmap</a:t>
            </a:r>
          </a:p>
          <a:p>
            <a:pPr>
              <a:lnSpc>
                <a:spcPct val="150000"/>
              </a:lnSpc>
            </a:pPr>
            <a:r>
              <a:rPr lang="en-GB" dirty="0"/>
              <a:t>Summary</a:t>
            </a:r>
          </a:p>
          <a:p>
            <a:pPr>
              <a:lnSpc>
                <a:spcPct val="150000"/>
              </a:lnSpc>
            </a:pPr>
            <a:r>
              <a:rPr lang="en-GB" dirty="0"/>
              <a:t>Live demo</a:t>
            </a:r>
          </a:p>
        </p:txBody>
      </p:sp>
      <p:sp>
        <p:nvSpPr>
          <p:cNvPr id="12" name="RS_Classification">
            <a:extLst>
              <a:ext uri="{FF2B5EF4-FFF2-40B4-BE49-F238E27FC236}">
                <a16:creationId xmlns:a16="http://schemas.microsoft.com/office/drawing/2014/main" id="{7BDD9F25-5939-4EC5-B5A7-00E20B50D4E9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4C49BA-6B41-40BE-92DE-F3A65B590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9C67DF-F1A3-4F88-BC12-8F326B46E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1680888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D21711-843F-4A2D-BA80-B6FED498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using an offline software?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F9CAF5-096F-41B0-A731-858DEC10E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US" dirty="0"/>
              <a:t>Need for complex time-taking analysis</a:t>
            </a:r>
          </a:p>
          <a:p>
            <a:pPr>
              <a:lnSpc>
                <a:spcPct val="200000"/>
              </a:lnSpc>
            </a:pPr>
            <a:r>
              <a:rPr lang="en-US" dirty="0"/>
              <a:t>Sharing of measurements between team members</a:t>
            </a:r>
          </a:p>
          <a:p>
            <a:pPr>
              <a:lnSpc>
                <a:spcPct val="200000"/>
              </a:lnSpc>
            </a:pPr>
            <a:r>
              <a:rPr lang="en-US" dirty="0"/>
              <a:t>Sharing of measurements between remote locations</a:t>
            </a:r>
          </a:p>
          <a:p>
            <a:pPr>
              <a:lnSpc>
                <a:spcPct val="200000"/>
              </a:lnSpc>
            </a:pPr>
            <a:r>
              <a:rPr lang="en-US" dirty="0"/>
              <a:t>Need for remote/hybrid engineering work</a:t>
            </a:r>
          </a:p>
          <a:p>
            <a:pPr>
              <a:lnSpc>
                <a:spcPct val="200000"/>
              </a:lnSpc>
            </a:pPr>
            <a:r>
              <a:rPr lang="en-US" dirty="0"/>
              <a:t>Need for remote connection to instruments</a:t>
            </a:r>
          </a:p>
          <a:p>
            <a:pPr>
              <a:lnSpc>
                <a:spcPct val="200000"/>
              </a:lnSpc>
            </a:pPr>
            <a:r>
              <a:rPr lang="en-US" dirty="0"/>
              <a:t>More effort documenting away from equipment</a:t>
            </a:r>
          </a:p>
          <a:p>
            <a:pPr>
              <a:lnSpc>
                <a:spcPct val="200000"/>
              </a:lnSpc>
            </a:pPr>
            <a:endParaRPr lang="en-US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EAE65C-2A80-4CA9-89CB-4AEEB665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3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2EBC33-DE80-460F-847C-32F4E76F6EC4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F74A834-3E27-455D-B962-A4D38AF765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250" y="1563638"/>
            <a:ext cx="2952750" cy="1552575"/>
          </a:xfrm>
          <a:prstGeom prst="rect">
            <a:avLst/>
          </a:prstGeom>
        </p:spPr>
      </p:pic>
      <p:sp>
        <p:nvSpPr>
          <p:cNvPr id="7" name="RS_Classification">
            <a:extLst>
              <a:ext uri="{FF2B5EF4-FFF2-40B4-BE49-F238E27FC236}">
                <a16:creationId xmlns:a16="http://schemas.microsoft.com/office/drawing/2014/main" id="{47E79395-D6F7-46F7-B846-962DA11FE046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7B9BA33-FF16-4C0B-B6EC-3559C6ED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6077568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85FBA-BF10-42D5-823D-7E156BD8F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using an offline software?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B0D64-52F1-432C-9753-2F9D2C3D0B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134000"/>
            <a:ext cx="5148104" cy="3528000"/>
          </a:xfrm>
        </p:spPr>
        <p:txBody>
          <a:bodyPr/>
          <a:lstStyle/>
          <a:p>
            <a:pPr lvl="0"/>
            <a:r>
              <a:rPr lang="en-US" sz="1600" dirty="0"/>
              <a:t>Reload of scope waveforms for further analysis and reporting</a:t>
            </a:r>
            <a:endParaRPr lang="en-GB" sz="1600" dirty="0"/>
          </a:p>
          <a:p>
            <a:pPr lvl="1"/>
            <a:r>
              <a:rPr lang="en-US" sz="1600" dirty="0"/>
              <a:t>Test &amp; Support offline:</a:t>
            </a:r>
            <a:endParaRPr lang="en-GB" sz="1600" dirty="0"/>
          </a:p>
          <a:p>
            <a:pPr lvl="2"/>
            <a:r>
              <a:rPr lang="en-US" sz="1600" dirty="0"/>
              <a:t>Measurement, cursors, track</a:t>
            </a:r>
            <a:endParaRPr lang="en-GB" sz="1600" dirty="0"/>
          </a:p>
          <a:p>
            <a:pPr lvl="2"/>
            <a:r>
              <a:rPr lang="en-US" sz="1600" dirty="0"/>
              <a:t>Spectrum, Math and filtering</a:t>
            </a:r>
            <a:endParaRPr lang="en-GB" sz="1600" dirty="0"/>
          </a:p>
          <a:p>
            <a:pPr lvl="2"/>
            <a:r>
              <a:rPr lang="en-US" sz="1600" dirty="0"/>
              <a:t>Zoom and annotation</a:t>
            </a:r>
            <a:endParaRPr lang="en-GB" sz="1600" dirty="0"/>
          </a:p>
          <a:p>
            <a:pPr lvl="2"/>
            <a:r>
              <a:rPr lang="en-US" sz="1600" dirty="0"/>
              <a:t>Decoding</a:t>
            </a:r>
            <a:endParaRPr lang="en-GB" sz="1600" dirty="0"/>
          </a:p>
          <a:p>
            <a:pPr lvl="0"/>
            <a:r>
              <a:rPr lang="en-US" sz="1600" dirty="0" err="1"/>
              <a:t>Saveset</a:t>
            </a:r>
            <a:r>
              <a:rPr lang="en-US" sz="1600" dirty="0"/>
              <a:t> to reload waveforms into oscilloscope as settings. </a:t>
            </a:r>
            <a:endParaRPr lang="en-GB" sz="1600" dirty="0"/>
          </a:p>
          <a:p>
            <a:pPr lvl="0"/>
            <a:r>
              <a:rPr lang="en-US" sz="1600" dirty="0"/>
              <a:t>PC SW synchronization of 2 instruments </a:t>
            </a:r>
          </a:p>
          <a:p>
            <a:r>
              <a:rPr lang="en-US" sz="1600" b="1" dirty="0">
                <a:solidFill>
                  <a:schemeClr val="accent1"/>
                </a:solidFill>
              </a:rPr>
              <a:t>Demoing an MXO UI without carrying a scope!</a:t>
            </a:r>
          </a:p>
          <a:p>
            <a:pPr lvl="0"/>
            <a:endParaRPr lang="en-GB" sz="1600" dirty="0"/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29E869-9E24-4ACA-A8F2-7A71D74E8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4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A4269C-F277-419D-899B-62C2A4D93FBB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GB" dirty="0"/>
              <a:t>Use cases</a:t>
            </a:r>
          </a:p>
        </p:txBody>
      </p:sp>
      <p:sp>
        <p:nvSpPr>
          <p:cNvPr id="6" name="RS_Classification">
            <a:extLst>
              <a:ext uri="{FF2B5EF4-FFF2-40B4-BE49-F238E27FC236}">
                <a16:creationId xmlns:a16="http://schemas.microsoft.com/office/drawing/2014/main" id="{750ACD37-B715-4008-82F1-488296E84651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8ECC88D-7DB1-43B3-BB23-0ABD0A6EC960}"/>
              </a:ext>
            </a:extLst>
          </p:cNvPr>
          <p:cNvGrpSpPr/>
          <p:nvPr/>
        </p:nvGrpSpPr>
        <p:grpSpPr>
          <a:xfrm>
            <a:off x="5580112" y="913637"/>
            <a:ext cx="3430319" cy="3651870"/>
            <a:chOff x="5580112" y="913637"/>
            <a:chExt cx="3430319" cy="365187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E0DE687F-0040-45FD-8304-1C86DB70878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9000"/>
            <a:stretch/>
          </p:blipFill>
          <p:spPr>
            <a:xfrm>
              <a:off x="5580112" y="913637"/>
              <a:ext cx="3430319" cy="365187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A030C9D-707A-457C-886D-D672E3E05896}"/>
                </a:ext>
              </a:extLst>
            </p:cNvPr>
            <p:cNvSpPr txBox="1"/>
            <p:nvPr/>
          </p:nvSpPr>
          <p:spPr>
            <a:xfrm>
              <a:off x="6291504" y="1114339"/>
              <a:ext cx="1003767" cy="24622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R&amp;S</a:t>
              </a:r>
              <a:r>
                <a:rPr lang="en-US" sz="1000" b="1" baseline="30000" dirty="0">
                  <a:solidFill>
                    <a:schemeClr val="bg1"/>
                  </a:solidFill>
                </a:rPr>
                <a:t>®</a:t>
              </a:r>
              <a:r>
                <a:rPr lang="en-GB" sz="1000" b="1" dirty="0">
                  <a:solidFill>
                    <a:schemeClr val="bg1"/>
                  </a:solidFill>
                </a:rPr>
                <a:t>Scope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88314B-EEB1-4194-895B-6926AC1B0078}"/>
                </a:ext>
              </a:extLst>
            </p:cNvPr>
            <p:cNvSpPr txBox="1"/>
            <p:nvPr/>
          </p:nvSpPr>
          <p:spPr>
            <a:xfrm>
              <a:off x="7524360" y="1831080"/>
              <a:ext cx="1331640" cy="24622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R&amp;S</a:t>
              </a:r>
              <a:r>
                <a:rPr lang="en-US" sz="1000" b="1" baseline="30000" dirty="0">
                  <a:solidFill>
                    <a:schemeClr val="bg1"/>
                  </a:solidFill>
                </a:rPr>
                <a:t>®</a:t>
              </a:r>
              <a:r>
                <a:rPr lang="en-GB" sz="1000" b="1" dirty="0" err="1">
                  <a:solidFill>
                    <a:schemeClr val="bg1"/>
                  </a:solidFill>
                </a:rPr>
                <a:t>ScopeStudio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204A75-67DE-44E4-8546-15CC58504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3171008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AE2548-BDD6-7F0F-3DB7-EC818919D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ScopeStudio</a:t>
            </a:r>
            <a:r>
              <a:rPr lang="de-DE" dirty="0"/>
              <a:t>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D6FC5E-16F6-B8F4-15C0-75583B709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MXO </a:t>
            </a:r>
            <a:r>
              <a:rPr lang="de-DE" dirty="0" err="1"/>
              <a:t>firmware</a:t>
            </a:r>
            <a:r>
              <a:rPr lang="de-DE" dirty="0"/>
              <a:t> </a:t>
            </a:r>
            <a:r>
              <a:rPr lang="de-DE" dirty="0" err="1"/>
              <a:t>running</a:t>
            </a:r>
            <a:r>
              <a:rPr lang="de-DE" dirty="0"/>
              <a:t> on a Windows PC</a:t>
            </a:r>
          </a:p>
          <a:p>
            <a:endParaRPr lang="de-DE" dirty="0"/>
          </a:p>
          <a:p>
            <a:endParaRPr lang="de-DE" dirty="0"/>
          </a:p>
          <a:p>
            <a:r>
              <a:rPr lang="de-DE" dirty="0"/>
              <a:t>UI </a:t>
            </a:r>
            <a:r>
              <a:rPr lang="de-DE" dirty="0" err="1"/>
              <a:t>adapted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offline </a:t>
            </a:r>
            <a:r>
              <a:rPr lang="de-DE" dirty="0" err="1"/>
              <a:t>purposes</a:t>
            </a:r>
            <a:endParaRPr lang="de-DE" dirty="0"/>
          </a:p>
          <a:p>
            <a:r>
              <a:rPr lang="de-DE" dirty="0" err="1"/>
              <a:t>No</a:t>
            </a:r>
            <a:r>
              <a:rPr lang="de-DE" dirty="0"/>
              <a:t> </a:t>
            </a:r>
            <a:r>
              <a:rPr lang="de-DE" dirty="0" err="1"/>
              <a:t>hardware</a:t>
            </a:r>
            <a:r>
              <a:rPr lang="de-DE" dirty="0"/>
              <a:t> </a:t>
            </a:r>
            <a:r>
              <a:rPr lang="de-DE" dirty="0" err="1"/>
              <a:t>dependencies</a:t>
            </a:r>
            <a:r>
              <a:rPr lang="de-DE" dirty="0"/>
              <a:t> </a:t>
            </a:r>
          </a:p>
          <a:p>
            <a:r>
              <a:rPr lang="de-DE" dirty="0"/>
              <a:t>HW </a:t>
            </a:r>
            <a:r>
              <a:rPr lang="de-DE" dirty="0" err="1"/>
              <a:t>accelerated</a:t>
            </a:r>
            <a:r>
              <a:rPr lang="de-DE" dirty="0"/>
              <a:t> </a:t>
            </a:r>
            <a:r>
              <a:rPr lang="de-DE" dirty="0" err="1"/>
              <a:t>functions</a:t>
            </a:r>
            <a:r>
              <a:rPr lang="de-DE" dirty="0"/>
              <a:t> </a:t>
            </a:r>
            <a:r>
              <a:rPr lang="de-DE" dirty="0" err="1"/>
              <a:t>replicated</a:t>
            </a:r>
            <a:r>
              <a:rPr lang="de-DE" dirty="0"/>
              <a:t> in SW</a:t>
            </a:r>
          </a:p>
          <a:p>
            <a:r>
              <a:rPr lang="de-DE" dirty="0"/>
              <a:t>Runs on Windows (incl. </a:t>
            </a:r>
            <a:r>
              <a:rPr lang="de-DE" dirty="0" err="1"/>
              <a:t>installer</a:t>
            </a:r>
            <a:r>
              <a:rPr lang="de-DE" dirty="0"/>
              <a:t>)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DF192-9085-2EC1-2266-D42477CD8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5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75DAC56-46F9-4682-9267-435CC4E58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048" y="990000"/>
            <a:ext cx="2808312" cy="2338495"/>
          </a:xfrm>
          <a:prstGeom prst="rect">
            <a:avLst/>
          </a:prstGeom>
        </p:spPr>
      </p:pic>
      <p:sp>
        <p:nvSpPr>
          <p:cNvPr id="9" name="RS_Classification">
            <a:extLst>
              <a:ext uri="{FF2B5EF4-FFF2-40B4-BE49-F238E27FC236}">
                <a16:creationId xmlns:a16="http://schemas.microsoft.com/office/drawing/2014/main" id="{17BEB441-72ED-F718-2B24-7DCE23F2972B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9FB933-33CE-4E24-BA83-346BA17A60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188901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E62B06F-344C-4AA2-80FE-842597121F3C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95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E62B06F-344C-4AA2-80FE-842597121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ECAC3F1E-0400-4A0F-BF56-6AC977EEAA04}"/>
              </a:ext>
            </a:extLst>
          </p:cNvPr>
          <p:cNvSpPr/>
          <p:nvPr/>
        </p:nvSpPr>
        <p:spPr>
          <a:xfrm>
            <a:off x="1516738" y="699542"/>
            <a:ext cx="3711718" cy="3968824"/>
          </a:xfrm>
          <a:prstGeom prst="rect">
            <a:avLst/>
          </a:prstGeom>
          <a:solidFill>
            <a:srgbClr val="92D050">
              <a:alpha val="18824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dirty="0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70333C-AD9B-47A9-9881-61F7E20F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25" y="335984"/>
            <a:ext cx="6856699" cy="702000"/>
          </a:xfrm>
        </p:spPr>
        <p:txBody>
          <a:bodyPr vert="horz"/>
          <a:lstStyle/>
          <a:p>
            <a:r>
              <a:rPr lang="en-US" dirty="0"/>
              <a:t>PC-based application</a:t>
            </a:r>
            <a:br>
              <a:rPr lang="en-US" dirty="0"/>
            </a:b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FA056D-06C1-433E-9F65-96E59EC50AE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C2C2C2"/>
              </a:clrFrom>
              <a:clrTo>
                <a:srgbClr val="C2C2C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80041" y="2428316"/>
            <a:ext cx="3016586" cy="1698045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F6CAF43-FC78-43D4-90AC-CABD613CC861}"/>
              </a:ext>
            </a:extLst>
          </p:cNvPr>
          <p:cNvSpPr/>
          <p:nvPr/>
        </p:nvSpPr>
        <p:spPr>
          <a:xfrm>
            <a:off x="1320958" y="1654060"/>
            <a:ext cx="1079405" cy="865925"/>
          </a:xfrm>
          <a:custGeom>
            <a:avLst/>
            <a:gdLst>
              <a:gd name="connsiteX0" fmla="*/ 0 w 1079405"/>
              <a:gd name="connsiteY0" fmla="*/ 20277 h 865925"/>
              <a:gd name="connsiteX1" fmla="*/ 721895 w 1079405"/>
              <a:gd name="connsiteY1" fmla="*/ 109654 h 865925"/>
              <a:gd name="connsiteX2" fmla="*/ 1079405 w 1079405"/>
              <a:gd name="connsiteY2" fmla="*/ 865925 h 86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405" h="865925">
                <a:moveTo>
                  <a:pt x="0" y="20277"/>
                </a:moveTo>
                <a:cubicBezTo>
                  <a:pt x="270997" y="-5505"/>
                  <a:pt x="541994" y="-31287"/>
                  <a:pt x="721895" y="109654"/>
                </a:cubicBezTo>
                <a:cubicBezTo>
                  <a:pt x="901796" y="250595"/>
                  <a:pt x="990600" y="558260"/>
                  <a:pt x="1079405" y="865925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BFC84-900C-4F05-B872-53A8CEAF43BE}"/>
              </a:ext>
            </a:extLst>
          </p:cNvPr>
          <p:cNvSpPr txBox="1"/>
          <p:nvPr/>
        </p:nvSpPr>
        <p:spPr>
          <a:xfrm>
            <a:off x="5257800" y="1058694"/>
            <a:ext cx="3810000" cy="1246495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500" dirty="0"/>
              <a:t>User PC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MS Windows 10 &amp; 11 </a:t>
            </a:r>
            <a:r>
              <a:rPr lang="en-US" sz="1100" dirty="0">
                <a:solidFill>
                  <a:schemeClr val="bg1">
                    <a:lumMod val="50000"/>
                  </a:schemeClr>
                </a:solidFill>
              </a:rPr>
              <a:t>(No support of Linux</a:t>
            </a:r>
            <a:r>
              <a:rPr lang="en-US" sz="11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64-bit,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8 GB RAM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≥ 1GB storage for install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/>
              <a:t>≥ 5 GB storage (data saves)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B4E96E-6098-40A0-97C7-F7A71DE31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6</a:t>
            </a:fld>
            <a:endParaRPr lang="en-US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7D977840-4909-F97C-A169-54A7914DA3CB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6F44159-DEA3-4DF2-A139-B9390982263C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05972" y="1532221"/>
            <a:ext cx="945456" cy="70817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DDC9389-7B82-428D-8D98-1198D4CB5C5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8106" y="1398326"/>
            <a:ext cx="1085047" cy="665395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7E94DB-E47F-419A-93BE-CB26E5772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744293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E62B06F-344C-4AA2-80FE-842597121F3C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9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E62B06F-344C-4AA2-80FE-842597121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ECAC3F1E-0400-4A0F-BF56-6AC977EEAA04}"/>
              </a:ext>
            </a:extLst>
          </p:cNvPr>
          <p:cNvSpPr/>
          <p:nvPr/>
        </p:nvSpPr>
        <p:spPr>
          <a:xfrm>
            <a:off x="1516738" y="699542"/>
            <a:ext cx="3711718" cy="3968824"/>
          </a:xfrm>
          <a:prstGeom prst="rect">
            <a:avLst/>
          </a:prstGeom>
          <a:solidFill>
            <a:srgbClr val="CCFFCC">
              <a:alpha val="18824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dirty="0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70333C-AD9B-47A9-9881-61F7E20F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26" y="285750"/>
            <a:ext cx="6395774" cy="702000"/>
          </a:xfrm>
        </p:spPr>
        <p:txBody>
          <a:bodyPr vert="horz"/>
          <a:lstStyle/>
          <a:p>
            <a:r>
              <a:rPr lang="en-US" dirty="0"/>
              <a:t>Import feature set</a:t>
            </a:r>
            <a:br>
              <a:rPr lang="en-US" dirty="0"/>
            </a:b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FA056D-06C1-433E-9F65-96E59EC50AE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C2C2C2"/>
              </a:clrFrom>
              <a:clrTo>
                <a:srgbClr val="C2C2C2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580041" y="2428316"/>
            <a:ext cx="3016586" cy="1698045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F6CAF43-FC78-43D4-90AC-CABD613CC861}"/>
              </a:ext>
            </a:extLst>
          </p:cNvPr>
          <p:cNvSpPr/>
          <p:nvPr/>
        </p:nvSpPr>
        <p:spPr>
          <a:xfrm>
            <a:off x="1320958" y="1654060"/>
            <a:ext cx="1079405" cy="865925"/>
          </a:xfrm>
          <a:custGeom>
            <a:avLst/>
            <a:gdLst>
              <a:gd name="connsiteX0" fmla="*/ 0 w 1079405"/>
              <a:gd name="connsiteY0" fmla="*/ 20277 h 865925"/>
              <a:gd name="connsiteX1" fmla="*/ 721895 w 1079405"/>
              <a:gd name="connsiteY1" fmla="*/ 109654 h 865925"/>
              <a:gd name="connsiteX2" fmla="*/ 1079405 w 1079405"/>
              <a:gd name="connsiteY2" fmla="*/ 865925 h 86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405" h="865925">
                <a:moveTo>
                  <a:pt x="0" y="20277"/>
                </a:moveTo>
                <a:cubicBezTo>
                  <a:pt x="270997" y="-5505"/>
                  <a:pt x="541994" y="-31287"/>
                  <a:pt x="721895" y="109654"/>
                </a:cubicBezTo>
                <a:cubicBezTo>
                  <a:pt x="901796" y="250595"/>
                  <a:pt x="990600" y="558260"/>
                  <a:pt x="1079405" y="865925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BFC84-900C-4F05-B872-53A8CEAF43BE}"/>
              </a:ext>
            </a:extLst>
          </p:cNvPr>
          <p:cNvSpPr txBox="1"/>
          <p:nvPr/>
        </p:nvSpPr>
        <p:spPr>
          <a:xfrm>
            <a:off x="5486400" y="1058694"/>
            <a:ext cx="3478088" cy="323165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/>
              <a:t>Waveforms </a:t>
            </a:r>
          </a:p>
          <a:p>
            <a:r>
              <a:rPr lang="en-US" sz="1200" dirty="0"/>
              <a:t>	</a:t>
            </a:r>
            <a:r>
              <a:rPr lang="en-US" sz="1200" b="1" dirty="0"/>
              <a:t>NEW! Import into channels</a:t>
            </a:r>
          </a:p>
          <a:p>
            <a:pPr lvl="1"/>
            <a:r>
              <a:rPr lang="en-US" sz="1200" dirty="0"/>
              <a:t>Import as reference</a:t>
            </a:r>
          </a:p>
          <a:p>
            <a:pPr lvl="1"/>
            <a:r>
              <a:rPr lang="en-US" sz="1200" dirty="0"/>
              <a:t>.ref (MXO)</a:t>
            </a:r>
          </a:p>
          <a:p>
            <a:pPr lvl="1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Roadmap</a:t>
            </a:r>
          </a:p>
          <a:p>
            <a:pPr lvl="2"/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RTx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.csv </a:t>
            </a:r>
          </a:p>
          <a:p>
            <a:endParaRPr lang="en-US" sz="1200" dirty="0"/>
          </a:p>
          <a:p>
            <a:r>
              <a:rPr lang="en-US" sz="1600" dirty="0" err="1"/>
              <a:t>Saveset</a:t>
            </a:r>
            <a:r>
              <a:rPr lang="en-US" sz="1600" dirty="0"/>
              <a:t> </a:t>
            </a:r>
          </a:p>
          <a:p>
            <a:pPr lvl="1"/>
            <a:r>
              <a:rPr lang="en-US" sz="1200" dirty="0"/>
              <a:t>import .set MXO </a:t>
            </a:r>
          </a:p>
          <a:p>
            <a:pPr lvl="2"/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sz="1600" dirty="0"/>
              <a:t>Session</a:t>
            </a:r>
            <a:r>
              <a:rPr lang="en-US" sz="1200" dirty="0"/>
              <a:t> (waveform + </a:t>
            </a:r>
            <a:r>
              <a:rPr lang="en-US" sz="1200" dirty="0" err="1"/>
              <a:t>saveset</a:t>
            </a:r>
            <a:r>
              <a:rPr lang="en-US" sz="1200" dirty="0"/>
              <a:t>) </a:t>
            </a:r>
          </a:p>
          <a:p>
            <a:r>
              <a:rPr lang="en-US" sz="1200" dirty="0"/>
              <a:t>	</a:t>
            </a:r>
            <a:r>
              <a:rPr lang="en-US" sz="1200" b="1" dirty="0"/>
              <a:t>NEW! import from MXO </a:t>
            </a:r>
            <a:r>
              <a:rPr lang="en-US" sz="1200" b="1" dirty="0" err="1"/>
              <a:t>saveset</a:t>
            </a:r>
            <a:r>
              <a:rPr lang="en-US" sz="1200" b="1" dirty="0"/>
              <a:t> </a:t>
            </a:r>
          </a:p>
          <a:p>
            <a:pPr lvl="1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Roadmap: </a:t>
            </a:r>
          </a:p>
          <a:p>
            <a:pPr lvl="2"/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into MXO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424AE3-FDC4-4E66-A28B-EBED841770D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4809" y="1398326"/>
            <a:ext cx="1085047" cy="6653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FFA001-B4BB-4EB0-AC21-6462A180F10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72675" y="1532221"/>
            <a:ext cx="945456" cy="70817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0400FA7-81FE-46F0-A763-058923DA19DC}"/>
              </a:ext>
            </a:extLst>
          </p:cNvPr>
          <p:cNvSpPr/>
          <p:nvPr/>
        </p:nvSpPr>
        <p:spPr>
          <a:xfrm>
            <a:off x="1320958" y="1571567"/>
            <a:ext cx="1828800" cy="93883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dirty="0" err="1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82E981-3FBD-44D1-8C30-88D9F9326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7</a:t>
            </a:fld>
            <a:endParaRPr lang="en-US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A674FEAA-B845-F2C5-76EF-F50A24838872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CABE7-C9C8-48D4-ABD4-0AAAF3C0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303186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E62B06F-344C-4AA2-80FE-842597121F3C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1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E62B06F-344C-4AA2-80FE-842597121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ECAC3F1E-0400-4A0F-BF56-6AC977EEAA04}"/>
              </a:ext>
            </a:extLst>
          </p:cNvPr>
          <p:cNvSpPr/>
          <p:nvPr/>
        </p:nvSpPr>
        <p:spPr>
          <a:xfrm>
            <a:off x="1550035" y="736526"/>
            <a:ext cx="3711718" cy="3968824"/>
          </a:xfrm>
          <a:prstGeom prst="rect">
            <a:avLst/>
          </a:prstGeom>
          <a:solidFill>
            <a:srgbClr val="92D050">
              <a:alpha val="18824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500" dirty="0"/>
              <a:t>`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70333C-AD9B-47A9-9881-61F7E20F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26" y="335984"/>
            <a:ext cx="5685566" cy="702000"/>
          </a:xfrm>
        </p:spPr>
        <p:txBody>
          <a:bodyPr vert="horz"/>
          <a:lstStyle/>
          <a:p>
            <a:r>
              <a:rPr lang="en-US" dirty="0"/>
              <a:t>ROADMAP – </a:t>
            </a:r>
            <a:r>
              <a:rPr lang="en-US" dirty="0" err="1"/>
              <a:t>EXPANDed</a:t>
            </a:r>
            <a:r>
              <a:rPr lang="en-US" dirty="0"/>
              <a:t> Use models</a:t>
            </a:r>
            <a:br>
              <a:rPr lang="en-US" dirty="0"/>
            </a:b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D5BD83-6E2C-4E07-9151-5C9706B2FA9F}"/>
              </a:ext>
            </a:extLst>
          </p:cNvPr>
          <p:cNvSpPr txBox="1"/>
          <p:nvPr/>
        </p:nvSpPr>
        <p:spPr>
          <a:xfrm>
            <a:off x="1672675" y="797312"/>
            <a:ext cx="1085554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500" dirty="0">
                <a:solidFill>
                  <a:srgbClr val="003E76"/>
                </a:solidFill>
              </a:rPr>
              <a:t>File-based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FA056D-06C1-433E-9F65-96E59EC50AE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C2C2C2"/>
              </a:clrFrom>
              <a:clrTo>
                <a:srgbClr val="C2C2C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613338" y="2428316"/>
            <a:ext cx="3016586" cy="1698045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F6CAF43-FC78-43D4-90AC-CABD613CC861}"/>
              </a:ext>
            </a:extLst>
          </p:cNvPr>
          <p:cNvSpPr/>
          <p:nvPr/>
        </p:nvSpPr>
        <p:spPr>
          <a:xfrm>
            <a:off x="1320958" y="1654060"/>
            <a:ext cx="1079405" cy="865925"/>
          </a:xfrm>
          <a:custGeom>
            <a:avLst/>
            <a:gdLst>
              <a:gd name="connsiteX0" fmla="*/ 0 w 1079405"/>
              <a:gd name="connsiteY0" fmla="*/ 20277 h 865925"/>
              <a:gd name="connsiteX1" fmla="*/ 721895 w 1079405"/>
              <a:gd name="connsiteY1" fmla="*/ 109654 h 865925"/>
              <a:gd name="connsiteX2" fmla="*/ 1079405 w 1079405"/>
              <a:gd name="connsiteY2" fmla="*/ 865925 h 86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405" h="865925">
                <a:moveTo>
                  <a:pt x="0" y="20277"/>
                </a:moveTo>
                <a:cubicBezTo>
                  <a:pt x="270997" y="-5505"/>
                  <a:pt x="541994" y="-31287"/>
                  <a:pt x="721895" y="109654"/>
                </a:cubicBezTo>
                <a:cubicBezTo>
                  <a:pt x="901796" y="250595"/>
                  <a:pt x="990600" y="558260"/>
                  <a:pt x="1079405" y="865925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90DE73D3-EDFF-43BF-8FC6-80CF0855788F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705972" y="1532221"/>
            <a:ext cx="945456" cy="708179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0FD9748-1822-4FDF-AB58-29500429C371}"/>
              </a:ext>
            </a:extLst>
          </p:cNvPr>
          <p:cNvGrpSpPr/>
          <p:nvPr/>
        </p:nvGrpSpPr>
        <p:grpSpPr>
          <a:xfrm>
            <a:off x="5238907" y="3283445"/>
            <a:ext cx="3560940" cy="1402359"/>
            <a:chOff x="5238907" y="3283445"/>
            <a:chExt cx="3560940" cy="1402359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AE12DF8-8004-4CFD-BD8A-59241A67F73D}"/>
                </a:ext>
              </a:extLst>
            </p:cNvPr>
            <p:cNvSpPr/>
            <p:nvPr/>
          </p:nvSpPr>
          <p:spPr>
            <a:xfrm>
              <a:off x="5238907" y="3283445"/>
              <a:ext cx="3560940" cy="1402359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00" dirty="0" err="1"/>
            </a:p>
          </p:txBody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67AAF127-FFBE-4ECB-B2F7-0F88654A878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2C2C2"/>
                </a:clrFrom>
                <a:clrTo>
                  <a:srgbClr val="C2C2C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715000" y="3804907"/>
              <a:ext cx="1440929" cy="811103"/>
            </a:xfrm>
            <a:prstGeom prst="rect">
              <a:avLst/>
            </a:prstGeom>
          </p:spPr>
        </p:pic>
        <p:sp>
          <p:nvSpPr>
            <p:cNvPr id="23" name="Content Placeholder 5">
              <a:extLst>
                <a:ext uri="{FF2B5EF4-FFF2-40B4-BE49-F238E27FC236}">
                  <a16:creationId xmlns:a16="http://schemas.microsoft.com/office/drawing/2014/main" id="{BF72A7CB-681C-4046-9D23-AAFA78738137}"/>
                </a:ext>
              </a:extLst>
            </p:cNvPr>
            <p:cNvSpPr txBox="1">
              <a:spLocks/>
            </p:cNvSpPr>
            <p:nvPr/>
          </p:nvSpPr>
          <p:spPr>
            <a:xfrm>
              <a:off x="5391190" y="3365766"/>
              <a:ext cx="3359224" cy="50405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252000" indent="-252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Arial" panose="020B0604020202020204" pitchFamily="34" charset="0"/>
                <a:buChar char="►"/>
                <a:defRPr sz="15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1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7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5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53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71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003E76"/>
                  </a:solidFill>
                </a:rPr>
                <a:t>Synchronization of 2 scopes</a:t>
              </a:r>
            </a:p>
            <a:p>
              <a:pPr marL="0" indent="0">
                <a:buNone/>
              </a:pPr>
              <a:endParaRPr lang="en-US" sz="1200" dirty="0">
                <a:solidFill>
                  <a:schemeClr val="bg1">
                    <a:lumMod val="65000"/>
                  </a:schemeClr>
                </a:solidFill>
              </a:endParaRPr>
            </a:p>
            <a:p>
              <a:pPr marL="270000" lvl="1" indent="0">
                <a:buFont typeface="Symbol" panose="05050102010706020507" pitchFamily="18" charset="2"/>
                <a:buNone/>
              </a:pPr>
              <a:endParaRPr lang="en-US" sz="1200" dirty="0"/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3166F99D-3EFB-4118-A820-47389FC9E3D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biLevel thresh="75000"/>
            </a:blip>
            <a:stretch>
              <a:fillRect/>
            </a:stretch>
          </p:blipFill>
          <p:spPr>
            <a:xfrm>
              <a:off x="7560928" y="3869822"/>
              <a:ext cx="431868" cy="292274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D5A3A3B7-757F-40B3-8414-032609F09D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biLevel thresh="75000"/>
            </a:blip>
            <a:stretch>
              <a:fillRect/>
            </a:stretch>
          </p:blipFill>
          <p:spPr>
            <a:xfrm>
              <a:off x="7560928" y="4212183"/>
              <a:ext cx="431868" cy="292274"/>
            </a:xfrm>
            <a:prstGeom prst="rect">
              <a:avLst/>
            </a:prstGeom>
          </p:spPr>
        </p:pic>
        <p:pic>
          <p:nvPicPr>
            <p:cNvPr id="33" name="Picture 32">
              <a:extLst>
                <a:ext uri="{FF2B5EF4-FFF2-40B4-BE49-F238E27FC236}">
                  <a16:creationId xmlns:a16="http://schemas.microsoft.com/office/drawing/2014/main" id="{14143CD1-AA58-4E55-89B7-0810553A13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20894" y="3921311"/>
              <a:ext cx="437009" cy="437009"/>
            </a:xfrm>
            <a:prstGeom prst="rect">
              <a:avLst/>
            </a:prstGeom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78A1EB53-B7CD-4AC8-BC5F-7CF5142C571E}"/>
              </a:ext>
            </a:extLst>
          </p:cNvPr>
          <p:cNvGrpSpPr/>
          <p:nvPr/>
        </p:nvGrpSpPr>
        <p:grpSpPr>
          <a:xfrm>
            <a:off x="5238907" y="725246"/>
            <a:ext cx="3560940" cy="2549981"/>
            <a:chOff x="5238907" y="725246"/>
            <a:chExt cx="3560940" cy="2549981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CCD5D2D1-E8F0-499E-B121-F8E249B305E2}"/>
                </a:ext>
              </a:extLst>
            </p:cNvPr>
            <p:cNvSpPr/>
            <p:nvPr/>
          </p:nvSpPr>
          <p:spPr>
            <a:xfrm>
              <a:off x="5238907" y="725246"/>
              <a:ext cx="3560940" cy="2549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endParaRPr lang="en-US" sz="1500" dirty="0" err="1"/>
            </a:p>
          </p:txBody>
        </p:sp>
        <p:sp>
          <p:nvSpPr>
            <p:cNvPr id="29" name="Content Placeholder 5">
              <a:extLst>
                <a:ext uri="{FF2B5EF4-FFF2-40B4-BE49-F238E27FC236}">
                  <a16:creationId xmlns:a16="http://schemas.microsoft.com/office/drawing/2014/main" id="{FF2A0E5E-C2FB-4336-B4FD-99ADBAE939CD}"/>
                </a:ext>
              </a:extLst>
            </p:cNvPr>
            <p:cNvSpPr txBox="1">
              <a:spLocks/>
            </p:cNvSpPr>
            <p:nvPr/>
          </p:nvSpPr>
          <p:spPr>
            <a:xfrm>
              <a:off x="5334000" y="845618"/>
              <a:ext cx="3359224" cy="504056"/>
            </a:xfrm>
            <a:prstGeom prst="rect">
              <a:avLst/>
            </a:prstGeom>
          </p:spPr>
          <p:txBody>
            <a:bodyPr vert="horz" lIns="0" tIns="0" rIns="0" bIns="0" rtlCol="0">
              <a:noAutofit/>
            </a:bodyPr>
            <a:lstStyle>
              <a:lvl1pPr marL="252000" indent="-252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Arial" panose="020B0604020202020204" pitchFamily="34" charset="0"/>
                <a:buChar char="►"/>
                <a:defRPr sz="1500" b="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63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81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9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17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35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53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710000" indent="-180000" algn="l" defTabSz="914400" rtl="0" eaLnBrk="1" latinLnBrk="0" hangingPunct="1">
                <a:lnSpc>
                  <a:spcPct val="105000"/>
                </a:lnSpc>
                <a:spcBef>
                  <a:spcPts val="0"/>
                </a:spcBef>
                <a:spcAft>
                  <a:spcPts val="400"/>
                </a:spcAft>
                <a:buSzPct val="90000"/>
                <a:buFont typeface="Symbol" panose="05050102010706020507" pitchFamily="18" charset="2"/>
                <a:buChar char="-"/>
                <a:defRPr sz="15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US" sz="1200" dirty="0">
                  <a:solidFill>
                    <a:srgbClr val="003E76"/>
                  </a:solidFill>
                </a:rPr>
                <a:t>Hosted connection to 1 scope</a:t>
              </a:r>
            </a:p>
            <a:p>
              <a:pPr marL="0" indent="0">
                <a:buNone/>
              </a:pPr>
              <a:endParaRPr lang="en-US" sz="1200" dirty="0">
                <a:solidFill>
                  <a:schemeClr val="bg1">
                    <a:lumMod val="50000"/>
                  </a:schemeClr>
                </a:solidFill>
              </a:endParaRPr>
            </a:p>
            <a:p>
              <a:pPr marL="270000" lvl="1" indent="0">
                <a:buFont typeface="Symbol" panose="05050102010706020507" pitchFamily="18" charset="2"/>
                <a:buNone/>
              </a:pPr>
              <a:endParaRPr lang="en-US" sz="1200" dirty="0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7BD7FA-5657-452D-B098-C20480DDE130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7020894" y="2000237"/>
              <a:ext cx="437009" cy="437009"/>
            </a:xfrm>
            <a:prstGeom prst="rect">
              <a:avLst/>
            </a:prstGeom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533D14DE-A0AC-4244-BD61-3563351B9B5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2C2C2"/>
                </a:clrFrom>
                <a:clrTo>
                  <a:srgbClr val="C2C2C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5715000" y="1809750"/>
              <a:ext cx="1440929" cy="811103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4976EA49-90BF-4654-9149-AECFB67092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560928" y="1874665"/>
              <a:ext cx="431868" cy="292274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AD59A9B-C50A-4E59-A572-889E250EAE68}"/>
                </a:ext>
              </a:extLst>
            </p:cNvPr>
            <p:cNvSpPr/>
            <p:nvPr/>
          </p:nvSpPr>
          <p:spPr>
            <a:xfrm>
              <a:off x="7569132" y="1886310"/>
              <a:ext cx="355668" cy="19488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pPr algn="ctr"/>
              <a:r>
                <a:rPr lang="en-US" sz="400" dirty="0"/>
                <a:t>Host </a:t>
              </a:r>
            </a:p>
            <a:p>
              <a:pPr algn="ctr"/>
              <a:r>
                <a:rPr lang="en-US" sz="400" dirty="0"/>
                <a:t>connection</a:t>
              </a: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C4186615-54E3-430A-9437-246AE33A7A3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8106" y="1398326"/>
            <a:ext cx="1085047" cy="66539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4C6780-2A4B-4FAC-9058-25B61E789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8</a:t>
            </a:fld>
            <a:endParaRPr lang="en-US"/>
          </a:p>
        </p:txBody>
      </p:sp>
      <p:sp>
        <p:nvSpPr>
          <p:cNvPr id="2" name="RS_Classification">
            <a:extLst>
              <a:ext uri="{FF2B5EF4-FFF2-40B4-BE49-F238E27FC236}">
                <a16:creationId xmlns:a16="http://schemas.microsoft.com/office/drawing/2014/main" id="{3864840A-22DA-E4CD-B194-EFCCD2944E24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8CC990-73D2-4CD7-B90D-04EE83240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0547204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E62B06F-344C-4AA2-80FE-842597121F3C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90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E62B06F-344C-4AA2-80FE-842597121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4">
            <a:extLst>
              <a:ext uri="{FF2B5EF4-FFF2-40B4-BE49-F238E27FC236}">
                <a16:creationId xmlns:a16="http://schemas.microsoft.com/office/drawing/2014/main" id="{3370333C-AD9B-47A9-9881-61F7E20F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26" y="335984"/>
            <a:ext cx="6395774" cy="702000"/>
          </a:xfrm>
        </p:spPr>
        <p:txBody>
          <a:bodyPr vert="horz"/>
          <a:lstStyle/>
          <a:p>
            <a:r>
              <a:rPr lang="en-US" dirty="0"/>
              <a:t>Roadmap - Generator (simulation)</a:t>
            </a:r>
            <a:br>
              <a:rPr lang="en-US" dirty="0"/>
            </a:br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D7389F3-89F4-4740-B01B-C349699526BB}"/>
              </a:ext>
            </a:extLst>
          </p:cNvPr>
          <p:cNvGrpSpPr/>
          <p:nvPr/>
        </p:nvGrpSpPr>
        <p:grpSpPr>
          <a:xfrm>
            <a:off x="430911" y="481437"/>
            <a:ext cx="8282179" cy="4662063"/>
            <a:chOff x="1424524" y="1532220"/>
            <a:chExt cx="6415456" cy="3611279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9B3CE6-AB0B-4447-8881-C0B501C8F2B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clrChange>
                <a:clrFrom>
                  <a:srgbClr val="C2C2C2"/>
                </a:clrFrom>
                <a:clrTo>
                  <a:srgbClr val="C2C2C2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1424524" y="1532220"/>
              <a:ext cx="6415456" cy="3611279"/>
            </a:xfrm>
            <a:prstGeom prst="rect">
              <a:avLst/>
            </a:prstGeom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3114BCB3-9180-435D-8B6A-EB3984D0F429}"/>
                </a:ext>
              </a:extLst>
            </p:cNvPr>
            <p:cNvGrpSpPr/>
            <p:nvPr/>
          </p:nvGrpSpPr>
          <p:grpSpPr>
            <a:xfrm>
              <a:off x="3066354" y="2047222"/>
              <a:ext cx="3233838" cy="1892680"/>
              <a:chOff x="3066354" y="2047222"/>
              <a:chExt cx="3233838" cy="1892680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757FF7D8-B259-4621-B85F-80AEB633470E}"/>
                  </a:ext>
                </a:extLst>
              </p:cNvPr>
              <p:cNvGrpSpPr/>
              <p:nvPr/>
            </p:nvGrpSpPr>
            <p:grpSpPr>
              <a:xfrm>
                <a:off x="3066354" y="2047222"/>
                <a:ext cx="3085094" cy="1892680"/>
                <a:chOff x="92767" y="5397"/>
                <a:chExt cx="8928934" cy="5038027"/>
              </a:xfrm>
            </p:grpSpPr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9CB86362-A8FC-40B2-A4BF-A28DEA72ACC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92767" y="5397"/>
                  <a:ext cx="8928934" cy="5038027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8BAB119B-9E7F-4CA6-BC58-99EF37FEA72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6156176" y="1790544"/>
                  <a:ext cx="600159" cy="295316"/>
                </a:xfrm>
                <a:prstGeom prst="rect">
                  <a:avLst/>
                </a:prstGeom>
              </p:spPr>
            </p:pic>
          </p:grp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CF02CBF-564E-4032-83C2-6DAB889FE2DA}"/>
                  </a:ext>
                </a:extLst>
              </p:cNvPr>
              <p:cNvSpPr/>
              <p:nvPr/>
            </p:nvSpPr>
            <p:spPr>
              <a:xfrm>
                <a:off x="4860032" y="2573660"/>
                <a:ext cx="1440160" cy="1222225"/>
              </a:xfrm>
              <a:prstGeom prst="rect">
                <a:avLst/>
              </a:prstGeom>
              <a:noFill/>
              <a:ln w="28575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:endParaRPr lang="en-US" sz="1500" dirty="0" err="1"/>
              </a:p>
            </p:txBody>
          </p:sp>
        </p:grpSp>
      </p:grp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F1C0F7A-2780-465C-AB16-B23B1A25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9</a:t>
            </a:fld>
            <a:endParaRPr lang="en-US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6DA42693-2601-BDEC-1A16-EE46FC5C3A02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C9DBBCD-489E-41B3-BEA3-7A57D6D0D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9768219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2E62B06F-344C-4AA2-80FE-842597121F3C}"/>
              </a:ext>
            </a:extLst>
          </p:cNvPr>
          <p:cNvGraphicFramePr>
            <a:graphicFrameLocks noChangeAspect="1"/>
          </p:cNvGraphicFramePr>
          <p:nvPr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6" name="think-cell Slide" r:id="rId5" imgW="306" imgH="306" progId="TCLayout.ActiveDocument.1">
                  <p:embed/>
                </p:oleObj>
              </mc:Choice>
              <mc:Fallback>
                <p:oleObj name="think-cell Slide" r:id="rId5" imgW="306" imgH="306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2E62B06F-344C-4AA2-80FE-842597121F3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" name="Rectangle 21">
            <a:extLst>
              <a:ext uri="{FF2B5EF4-FFF2-40B4-BE49-F238E27FC236}">
                <a16:creationId xmlns:a16="http://schemas.microsoft.com/office/drawing/2014/main" id="{ECAC3F1E-0400-4A0F-BF56-6AC977EEAA04}"/>
              </a:ext>
            </a:extLst>
          </p:cNvPr>
          <p:cNvSpPr/>
          <p:nvPr/>
        </p:nvSpPr>
        <p:spPr>
          <a:xfrm>
            <a:off x="1516738" y="699542"/>
            <a:ext cx="3711718" cy="3968824"/>
          </a:xfrm>
          <a:prstGeom prst="rect">
            <a:avLst/>
          </a:prstGeom>
          <a:solidFill>
            <a:srgbClr val="CCFFCC">
              <a:alpha val="18824"/>
            </a:srgb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dirty="0" err="1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370333C-AD9B-47A9-9881-61F7E20F66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626" y="335984"/>
            <a:ext cx="6395774" cy="702000"/>
          </a:xfrm>
        </p:spPr>
        <p:txBody>
          <a:bodyPr vert="horz"/>
          <a:lstStyle/>
          <a:p>
            <a:r>
              <a:rPr lang="en-US" sz="2800" dirty="0" err="1"/>
              <a:t>ScopeStudio</a:t>
            </a:r>
            <a:r>
              <a:rPr lang="en-US" dirty="0"/>
              <a:t> applications options</a:t>
            </a:r>
            <a:br>
              <a:rPr lang="en-US" dirty="0"/>
            </a:br>
            <a:endParaRPr lang="en-US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71FA056D-06C1-433E-9F65-96E59EC50AEE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C2C2C2"/>
              </a:clrFrom>
              <a:clrTo>
                <a:srgbClr val="C2C2C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80041" y="2428316"/>
            <a:ext cx="3016586" cy="1698045"/>
          </a:xfrm>
          <a:prstGeom prst="rect">
            <a:avLst/>
          </a:prstGeom>
        </p:spPr>
      </p:pic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0F6CAF43-FC78-43D4-90AC-CABD613CC861}"/>
              </a:ext>
            </a:extLst>
          </p:cNvPr>
          <p:cNvSpPr/>
          <p:nvPr/>
        </p:nvSpPr>
        <p:spPr>
          <a:xfrm>
            <a:off x="1320958" y="1654060"/>
            <a:ext cx="1079405" cy="865925"/>
          </a:xfrm>
          <a:custGeom>
            <a:avLst/>
            <a:gdLst>
              <a:gd name="connsiteX0" fmla="*/ 0 w 1079405"/>
              <a:gd name="connsiteY0" fmla="*/ 20277 h 865925"/>
              <a:gd name="connsiteX1" fmla="*/ 721895 w 1079405"/>
              <a:gd name="connsiteY1" fmla="*/ 109654 h 865925"/>
              <a:gd name="connsiteX2" fmla="*/ 1079405 w 1079405"/>
              <a:gd name="connsiteY2" fmla="*/ 865925 h 86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79405" h="865925">
                <a:moveTo>
                  <a:pt x="0" y="20277"/>
                </a:moveTo>
                <a:cubicBezTo>
                  <a:pt x="270997" y="-5505"/>
                  <a:pt x="541994" y="-31287"/>
                  <a:pt x="721895" y="109654"/>
                </a:cubicBezTo>
                <a:cubicBezTo>
                  <a:pt x="901796" y="250595"/>
                  <a:pt x="990600" y="558260"/>
                  <a:pt x="1079405" y="865925"/>
                </a:cubicBezTo>
              </a:path>
            </a:pathLst>
          </a:custGeom>
          <a:noFill/>
          <a:ln>
            <a:solidFill>
              <a:schemeClr val="bg1">
                <a:lumMod val="65000"/>
              </a:schemeClr>
            </a:solidFill>
            <a:prstDash val="sysDash"/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BBBFC84-900C-4F05-B872-53A8CEAF43BE}"/>
              </a:ext>
            </a:extLst>
          </p:cNvPr>
          <p:cNvSpPr txBox="1"/>
          <p:nvPr/>
        </p:nvSpPr>
        <p:spPr>
          <a:xfrm>
            <a:off x="5486400" y="1058694"/>
            <a:ext cx="3272791" cy="2539157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Q1 2025: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/>
              <a:t>Low-speed serial decode</a:t>
            </a:r>
          </a:p>
          <a:p>
            <a:endParaRPr lang="en-US" sz="1200" dirty="0"/>
          </a:p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Roadmap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  <a:sym typeface="Wingdings" panose="05000000000000000000" pitchFamily="2" charset="2"/>
              </a:rPr>
              <a:t> same as MXO</a:t>
            </a:r>
            <a:endParaRPr lang="en-US" sz="1200" dirty="0">
              <a:solidFill>
                <a:schemeClr val="bg1">
                  <a:lumMod val="7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Signal integrity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Eye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Jitter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De-embedding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PAM measurements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EQ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High-speed protocol T&amp;D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Power app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5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400FA7-81FE-46F0-A763-058923DA19DC}"/>
              </a:ext>
            </a:extLst>
          </p:cNvPr>
          <p:cNvSpPr/>
          <p:nvPr/>
        </p:nvSpPr>
        <p:spPr>
          <a:xfrm>
            <a:off x="2133600" y="2623516"/>
            <a:ext cx="1828800" cy="938834"/>
          </a:xfrm>
          <a:prstGeom prst="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500" dirty="0" err="1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A424AE3-FDC4-4E66-A28B-EBED841770D8}"/>
              </a:ext>
            </a:extLst>
          </p:cNvPr>
          <p:cNvPicPr>
            <a:picLocks noChangeAspect="1"/>
          </p:cNvPicPr>
          <p:nvPr/>
        </p:nvPicPr>
        <p:blipFill>
          <a:blip r:embed="rId8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384809" y="1398326"/>
            <a:ext cx="1085047" cy="6653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AFFA001-B4BB-4EB0-AC21-6462A180F109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1672675" y="1532221"/>
            <a:ext cx="945456" cy="708179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8307F6-555E-45CE-BBA7-79EF0815B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10</a:t>
            </a:fld>
            <a:endParaRPr lang="en-US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63852CFE-899A-EFAA-8EB3-87E40EE796DB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D606DE-F250-434B-9DEB-8817F6743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364463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DF15D8-94CE-4279-81E0-178E8D668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Competitor landscape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AA81FB-37CB-4D4C-A82E-CDF57B49B977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RS_Classification">
            <a:extLst>
              <a:ext uri="{FF2B5EF4-FFF2-40B4-BE49-F238E27FC236}">
                <a16:creationId xmlns:a16="http://schemas.microsoft.com/office/drawing/2014/main" id="{EBCD5037-21A7-463A-BC67-4FB6B2061A6D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</p:spTree>
    <p:extLst>
      <p:ext uri="{BB962C8B-B14F-4D97-AF65-F5344CB8AC3E}">
        <p14:creationId xmlns:p14="http://schemas.microsoft.com/office/powerpoint/2010/main" val="16346833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31404-0FAE-4768-8FBB-9F0DC004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51C3F5-EA2D-4AC6-A15E-784D4D3FD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12</a:t>
            </a:fld>
            <a:endParaRPr 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C5681195-D5E7-42D8-AC6D-4C340D51F8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19572" y="1091158"/>
            <a:ext cx="3876491" cy="3033776"/>
          </a:xfrm>
          <a:prstGeom prst="rect">
            <a:avLst/>
          </a:prstGeom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D3DBDACB-5972-428C-B485-B0679CF0C90F}"/>
              </a:ext>
            </a:extLst>
          </p:cNvPr>
          <p:cNvGrpSpPr/>
          <p:nvPr/>
        </p:nvGrpSpPr>
        <p:grpSpPr>
          <a:xfrm>
            <a:off x="374031" y="2791674"/>
            <a:ext cx="4801612" cy="1868308"/>
            <a:chOff x="374031" y="2791674"/>
            <a:chExt cx="4801612" cy="186830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2308D667-9EF9-417E-B225-BA09AAC120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4031" y="2791674"/>
              <a:ext cx="4801612" cy="186830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1238861-81F6-4D1E-AF2E-2E2C5EDB4F11}"/>
                </a:ext>
              </a:extLst>
            </p:cNvPr>
            <p:cNvSpPr txBox="1"/>
            <p:nvPr/>
          </p:nvSpPr>
          <p:spPr>
            <a:xfrm>
              <a:off x="4557230" y="3147445"/>
              <a:ext cx="486030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$504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751A276-5A68-488B-8904-1B2FDCBDDFAF}"/>
                </a:ext>
              </a:extLst>
            </p:cNvPr>
            <p:cNvSpPr txBox="1"/>
            <p:nvPr/>
          </p:nvSpPr>
          <p:spPr>
            <a:xfrm>
              <a:off x="4572000" y="3299845"/>
              <a:ext cx="56137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$2250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F6A252-5BCF-4855-8B85-3A65604B33A5}"/>
                </a:ext>
              </a:extLst>
            </p:cNvPr>
            <p:cNvSpPr txBox="1"/>
            <p:nvPr/>
          </p:nvSpPr>
          <p:spPr>
            <a:xfrm>
              <a:off x="4586770" y="3541970"/>
              <a:ext cx="56137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$2250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4B97D930-A3D4-4C5B-8DBD-F4D4964DB9AA}"/>
                </a:ext>
              </a:extLst>
            </p:cNvPr>
            <p:cNvSpPr txBox="1"/>
            <p:nvPr/>
          </p:nvSpPr>
          <p:spPr>
            <a:xfrm>
              <a:off x="4601540" y="3939902"/>
              <a:ext cx="56137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$1125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011A8A5-51B5-42EF-B1AD-BB688FE479CE}"/>
                </a:ext>
              </a:extLst>
            </p:cNvPr>
            <p:cNvSpPr txBox="1"/>
            <p:nvPr/>
          </p:nvSpPr>
          <p:spPr>
            <a:xfrm>
              <a:off x="4572000" y="4406066"/>
              <a:ext cx="561372" cy="25391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50" dirty="0"/>
                <a:t>$2250</a:t>
              </a:r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DA7AFB16-4925-4BBB-8EDA-FBDBA7D7B897}"/>
              </a:ext>
            </a:extLst>
          </p:cNvPr>
          <p:cNvSpPr txBox="1"/>
          <p:nvPr/>
        </p:nvSpPr>
        <p:spPr>
          <a:xfrm>
            <a:off x="6876256" y="4300296"/>
            <a:ext cx="1800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dirty="0"/>
              <a:t>+</a:t>
            </a:r>
            <a:r>
              <a:rPr lang="en-GB" sz="1100" dirty="0" err="1"/>
              <a:t>KSCare</a:t>
            </a:r>
            <a:r>
              <a:rPr lang="en-GB" sz="1100" dirty="0"/>
              <a:t> </a:t>
            </a:r>
          </a:p>
          <a:p>
            <a:r>
              <a:rPr lang="en-GB" sz="1100" dirty="0"/>
              <a:t>(12, 24, 36, 60 months)</a:t>
            </a:r>
          </a:p>
        </p:txBody>
      </p:sp>
      <p:sp>
        <p:nvSpPr>
          <p:cNvPr id="32" name="RS_Classification">
            <a:extLst>
              <a:ext uri="{FF2B5EF4-FFF2-40B4-BE49-F238E27FC236}">
                <a16:creationId xmlns:a16="http://schemas.microsoft.com/office/drawing/2014/main" id="{CA33D483-93AC-46E6-83A2-7F8920EB3BF4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00BF679-D11F-4D4D-8320-DEF9CE044FC5}"/>
              </a:ext>
            </a:extLst>
          </p:cNvPr>
          <p:cNvSpPr txBox="1"/>
          <p:nvPr/>
        </p:nvSpPr>
        <p:spPr>
          <a:xfrm>
            <a:off x="395321" y="2432953"/>
            <a:ext cx="4752528" cy="430887"/>
          </a:xfrm>
          <a:prstGeom prst="rect">
            <a:avLst/>
          </a:prstGeom>
          <a:solidFill>
            <a:srgbClr val="C000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GB" sz="1000" dirty="0">
                <a:solidFill>
                  <a:schemeClr val="bg1"/>
                </a:solidFill>
              </a:rPr>
              <a:t>KS </a:t>
            </a:r>
            <a:r>
              <a:rPr lang="en-GB" sz="1000" dirty="0" err="1">
                <a:solidFill>
                  <a:schemeClr val="bg1"/>
                </a:solidFill>
              </a:rPr>
              <a:t>Infiniium</a:t>
            </a:r>
            <a:r>
              <a:rPr lang="en-GB" sz="1000" dirty="0">
                <a:solidFill>
                  <a:schemeClr val="bg1"/>
                </a:solidFill>
              </a:rPr>
              <a:t> offline, Complete package, Perpetual license, Node-locked: </a:t>
            </a:r>
          </a:p>
          <a:p>
            <a:pPr algn="ctr"/>
            <a:r>
              <a:rPr lang="en-GB" sz="1200" b="1" dirty="0">
                <a:solidFill>
                  <a:schemeClr val="bg1"/>
                </a:solidFill>
              </a:rPr>
              <a:t>8379 USD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7BB2175-8C73-4310-98CA-31C0F365A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Keysight </a:t>
            </a:r>
            <a:r>
              <a:rPr lang="en-US" dirty="0" err="1"/>
              <a:t>Infiniium</a:t>
            </a:r>
            <a:r>
              <a:rPr lang="en-US" dirty="0"/>
              <a:t> offline</a:t>
            </a:r>
            <a:endParaRPr lang="en-GB" dirty="0"/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F22BC1B6-5221-4A0A-8315-6A96A96F078E}"/>
              </a:ext>
            </a:extLst>
          </p:cNvPr>
          <p:cNvSpPr txBox="1">
            <a:spLocks/>
          </p:cNvSpPr>
          <p:nvPr/>
        </p:nvSpPr>
        <p:spPr>
          <a:xfrm>
            <a:off x="360000" y="1134000"/>
            <a:ext cx="4212000" cy="143775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52000" indent="-252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Arial" panose="020B0604020202020204" pitchFamily="34" charset="0"/>
              <a:buChar char="►"/>
              <a:defRPr sz="15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3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1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9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17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35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3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2014 intro. Well established</a:t>
            </a:r>
          </a:p>
          <a:p>
            <a:r>
              <a:rPr lang="en-US" dirty="0"/>
              <a:t>Extensive demo capability </a:t>
            </a:r>
          </a:p>
          <a:p>
            <a:r>
              <a:rPr lang="en-US" dirty="0" err="1"/>
              <a:t>MultiScope</a:t>
            </a:r>
            <a:r>
              <a:rPr lang="en-US" dirty="0"/>
              <a:t> support (up to 40 </a:t>
            </a:r>
            <a:r>
              <a:rPr lang="en-US" dirty="0" err="1"/>
              <a:t>ch</a:t>
            </a:r>
            <a:r>
              <a:rPr lang="en-US" dirty="0"/>
              <a:t>)</a:t>
            </a:r>
          </a:p>
          <a:p>
            <a:r>
              <a:rPr lang="en-US" dirty="0"/>
              <a:t>The most expensive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C87B70A-6B13-4BC8-9260-1CBE23E7AB00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A097F1-D4D8-4C09-8287-BED1A0989142}"/>
              </a:ext>
            </a:extLst>
          </p:cNvPr>
          <p:cNvCxnSpPr>
            <a:cxnSpLocks/>
          </p:cNvCxnSpPr>
          <p:nvPr/>
        </p:nvCxnSpPr>
        <p:spPr>
          <a:xfrm flipV="1">
            <a:off x="5043260" y="2863840"/>
            <a:ext cx="3273156" cy="4360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D3036EB-57DF-462A-ACC4-5914DB7E4320}"/>
              </a:ext>
            </a:extLst>
          </p:cNvPr>
          <p:cNvCxnSpPr>
            <a:cxnSpLocks/>
          </p:cNvCxnSpPr>
          <p:nvPr/>
        </p:nvCxnSpPr>
        <p:spPr>
          <a:xfrm flipH="1">
            <a:off x="7668344" y="3147445"/>
            <a:ext cx="792088" cy="125862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4293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E7397-AC28-46AF-8C4C-CDE8653CF1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KS licensing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CC8C-FCCE-4536-9F07-53246805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fontAlgn="ctr"/>
            <a:r>
              <a:rPr lang="en-GB" dirty="0"/>
              <a:t>Duration: Perpetual vs Subscription 3, 6, 12, 24, 36 months</a:t>
            </a:r>
          </a:p>
          <a:p>
            <a:r>
              <a:rPr lang="en-GB" dirty="0"/>
              <a:t>Type: Node-locked, Transportable, USB portable, Floating single site, Floating single region, Floating worldwide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C1FC9-458E-4648-AB57-C8421875B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F8F7E-32DE-4CC6-A30D-D2E3A4EB3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13</a:t>
            </a:fld>
            <a:endParaRPr lang="en-US"/>
          </a:p>
        </p:txBody>
      </p:sp>
      <p:sp>
        <p:nvSpPr>
          <p:cNvPr id="8" name="RS_Classification">
            <a:extLst>
              <a:ext uri="{FF2B5EF4-FFF2-40B4-BE49-F238E27FC236}">
                <a16:creationId xmlns:a16="http://schemas.microsoft.com/office/drawing/2014/main" id="{C694C610-98BD-4206-9B02-CF3068750D23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 dirty="0"/>
              <a:t>COMPANY RESTRICTED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06BE6A4-1583-4C13-B93B-72DE953ABB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166961"/>
              </p:ext>
            </p:extLst>
          </p:nvPr>
        </p:nvGraphicFramePr>
        <p:xfrm>
          <a:off x="2136599" y="2139702"/>
          <a:ext cx="6408712" cy="23370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6184">
                  <a:extLst>
                    <a:ext uri="{9D8B030D-6E8A-4147-A177-3AD203B41FA5}">
                      <a16:colId xmlns:a16="http://schemas.microsoft.com/office/drawing/2014/main" val="3469465208"/>
                    </a:ext>
                  </a:extLst>
                </a:gridCol>
                <a:gridCol w="1216688">
                  <a:extLst>
                    <a:ext uri="{9D8B030D-6E8A-4147-A177-3AD203B41FA5}">
                      <a16:colId xmlns:a16="http://schemas.microsoft.com/office/drawing/2014/main" val="806120472"/>
                    </a:ext>
                  </a:extLst>
                </a:gridCol>
                <a:gridCol w="1767920">
                  <a:extLst>
                    <a:ext uri="{9D8B030D-6E8A-4147-A177-3AD203B41FA5}">
                      <a16:colId xmlns:a16="http://schemas.microsoft.com/office/drawing/2014/main" val="2260968193"/>
                    </a:ext>
                  </a:extLst>
                </a:gridCol>
                <a:gridCol w="1767920">
                  <a:extLst>
                    <a:ext uri="{9D8B030D-6E8A-4147-A177-3AD203B41FA5}">
                      <a16:colId xmlns:a16="http://schemas.microsoft.com/office/drawing/2014/main" val="288092240"/>
                    </a:ext>
                  </a:extLst>
                </a:gridCol>
              </a:tblGrid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Type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D9010JITO D9010ASIO  D9010HSPO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200" dirty="0"/>
                        <a:t>D9010LSPO</a:t>
                      </a:r>
                    </a:p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643723"/>
                  </a:ext>
                </a:extLst>
              </a:tr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Node-locked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504 $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2251 $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1125 $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9597759"/>
                  </a:ext>
                </a:extLst>
              </a:tr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Transportable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+30%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176476"/>
                  </a:ext>
                </a:extLst>
              </a:tr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USB portable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+30% + 187$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5727156"/>
                  </a:ext>
                </a:extLst>
              </a:tr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Floating single site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+40%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926671"/>
                  </a:ext>
                </a:extLst>
              </a:tr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Floating single region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+60%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6219431"/>
                  </a:ext>
                </a:extLst>
              </a:tr>
              <a:tr h="282831">
                <a:tc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Floating worldwide</a:t>
                      </a:r>
                    </a:p>
                  </a:txBody>
                  <a:tcPr anchor="ctr"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lang="en-GB" sz="1200" dirty="0"/>
                        <a:t>+80%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98896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654C31B-8F4D-433A-B52E-DAB3257906B3}"/>
              </a:ext>
            </a:extLst>
          </p:cNvPr>
          <p:cNvSpPr txBox="1"/>
          <p:nvPr/>
        </p:nvSpPr>
        <p:spPr>
          <a:xfrm>
            <a:off x="179512" y="3143121"/>
            <a:ext cx="1872207" cy="430887"/>
          </a:xfrm>
          <a:prstGeom prst="rect">
            <a:avLst/>
          </a:prstGeom>
          <a:solidFill>
            <a:srgbClr val="CBCED6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GB" sz="1100" dirty="0"/>
              <a:t>Price range (perpetual) vs License type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7BEE5D72-D1CC-4FDD-80A9-2D224B41E996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626519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8FFDAD-A831-4451-9AD8-42BD35F83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Tekscope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0F906-CF5D-4D0D-B479-3C382747E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134000"/>
            <a:ext cx="4644048" cy="1869798"/>
          </a:xfrm>
        </p:spPr>
        <p:txBody>
          <a:bodyPr/>
          <a:lstStyle/>
          <a:p>
            <a:pPr fontAlgn="ctr"/>
            <a:r>
              <a:rPr lang="en-GB" dirty="0"/>
              <a:t>McDonald's Pricing Strategy</a:t>
            </a:r>
          </a:p>
          <a:p>
            <a:pPr fontAlgn="ctr"/>
            <a:r>
              <a:rPr lang="en-GB" dirty="0"/>
              <a:t>Duration: Perpetual vs 12 months </a:t>
            </a:r>
            <a:r>
              <a:rPr lang="en-GB" sz="1000" dirty="0"/>
              <a:t>(-60%, like KS)</a:t>
            </a:r>
          </a:p>
          <a:p>
            <a:r>
              <a:rPr lang="en-GB" dirty="0"/>
              <a:t>Type: Node-locked only</a:t>
            </a:r>
          </a:p>
          <a:p>
            <a:r>
              <a:rPr lang="en-GB" dirty="0"/>
              <a:t>Maintenance/update license limited to 1 year </a:t>
            </a:r>
          </a:p>
          <a:p>
            <a:pPr lvl="1"/>
            <a:r>
              <a:rPr lang="en-GB" dirty="0"/>
              <a:t>Extensions sold separately on yearly basis</a:t>
            </a:r>
          </a:p>
          <a:p>
            <a:r>
              <a:rPr lang="en-GB" dirty="0"/>
              <a:t>Only Ultimate package includes </a:t>
            </a:r>
            <a:r>
              <a:rPr lang="en-GB" dirty="0" err="1"/>
              <a:t>MultiScope</a:t>
            </a:r>
            <a:endParaRPr lang="en-GB" dirty="0"/>
          </a:p>
          <a:p>
            <a:r>
              <a:rPr lang="en-GB" dirty="0"/>
              <a:t>Pseudo-Free version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B09C14-8501-4541-B1B6-28994DFBB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1F03E1-1304-4681-BF76-BC8BFEC3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14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D3E3CD-EE82-4CD6-A88E-68FD4F41497A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FC8BCF-F7B6-4E3C-8172-0381925312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0620" y="319444"/>
            <a:ext cx="4230005" cy="395069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D291CF-A786-4E24-9DD5-8835F7303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187" y="3295979"/>
            <a:ext cx="3648894" cy="142704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RS_Classification">
            <a:extLst>
              <a:ext uri="{FF2B5EF4-FFF2-40B4-BE49-F238E27FC236}">
                <a16:creationId xmlns:a16="http://schemas.microsoft.com/office/drawing/2014/main" id="{3AFB38A5-4A8B-41C2-9903-12E1320CF70A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 dirty="0"/>
              <a:t>COMPANY RESTRICTED</a:t>
            </a:r>
          </a:p>
        </p:txBody>
      </p:sp>
    </p:spTree>
    <p:extLst>
      <p:ext uri="{BB962C8B-B14F-4D97-AF65-F5344CB8AC3E}">
        <p14:creationId xmlns:p14="http://schemas.microsoft.com/office/powerpoint/2010/main" val="3980119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C8645-B976-425C-9E21-283C3188F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Lecroy</a:t>
            </a:r>
            <a:r>
              <a:rPr lang="en-GB" dirty="0"/>
              <a:t> </a:t>
            </a:r>
            <a:r>
              <a:rPr lang="en-GB" dirty="0" err="1"/>
              <a:t>maui</a:t>
            </a:r>
            <a:r>
              <a:rPr lang="en-GB" dirty="0"/>
              <a:t> studio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3B309-92E3-422C-A93B-4C3CC88BB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Strong binding with </a:t>
            </a:r>
            <a:r>
              <a:rPr lang="en-GB" dirty="0" err="1"/>
              <a:t>LeCroy</a:t>
            </a:r>
            <a:r>
              <a:rPr lang="en-GB" dirty="0"/>
              <a:t> Oscilloscope</a:t>
            </a:r>
          </a:p>
          <a:p>
            <a:r>
              <a:rPr lang="en-GB" dirty="0" err="1"/>
              <a:t>LabNotebook</a:t>
            </a:r>
            <a:r>
              <a:rPr lang="en-GB" dirty="0"/>
              <a:t> Option Recall</a:t>
            </a:r>
          </a:p>
          <a:p>
            <a:r>
              <a:rPr lang="en-GB" dirty="0"/>
              <a:t>Pseudo-Free version: no Remote Analysis</a:t>
            </a:r>
          </a:p>
          <a:p>
            <a:r>
              <a:rPr lang="en-GB" dirty="0"/>
              <a:t>Not modular </a:t>
            </a:r>
            <a:r>
              <a:rPr lang="en-GB" dirty="0">
                <a:sym typeface="Wingdings" panose="05000000000000000000" pitchFamily="2" charset="2"/>
              </a:rPr>
              <a:t></a:t>
            </a:r>
            <a:r>
              <a:rPr lang="en-GB" dirty="0"/>
              <a:t>Relatively expensive</a:t>
            </a:r>
          </a:p>
          <a:p>
            <a:r>
              <a:rPr lang="en-GB" dirty="0" err="1"/>
              <a:t>Undisclsoed</a:t>
            </a:r>
            <a:r>
              <a:rPr lang="en-GB" dirty="0"/>
              <a:t> price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98F0E7-0751-4223-9F81-778BA35FB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R&amp;S®ScopeStudio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9CC378-1E60-44ED-9453-1CC85601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15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E30044F-9E29-4F96-A3EA-DAE2121DFEC5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E8881C1-8DD7-49D3-9399-4210735AB373}"/>
              </a:ext>
            </a:extLst>
          </p:cNvPr>
          <p:cNvGrpSpPr/>
          <p:nvPr/>
        </p:nvGrpSpPr>
        <p:grpSpPr>
          <a:xfrm>
            <a:off x="2337146" y="2362589"/>
            <a:ext cx="3852544" cy="2275880"/>
            <a:chOff x="432247" y="1059738"/>
            <a:chExt cx="6158325" cy="363801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3CCFE09-1132-42B1-83B8-1FFD71CCE1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32247" y="1059738"/>
              <a:ext cx="6158325" cy="3600400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F88125C-3E39-4E73-8DC0-D023B74C0E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16424" y="4393569"/>
              <a:ext cx="1789829" cy="304183"/>
            </a:xfrm>
            <a:prstGeom prst="rect">
              <a:avLst/>
            </a:prstGeom>
          </p:spPr>
        </p:pic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1E6D00B-4839-478E-8B76-4FBF196DC6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6216" y="100076"/>
            <a:ext cx="2389115" cy="365187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01FE7CD-9546-44BC-A7E7-D8948C47E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518" y="3834047"/>
            <a:ext cx="1973073" cy="9161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CE2CB776-9C07-4D68-A9DC-10A60A00BEFD}"/>
              </a:ext>
            </a:extLst>
          </p:cNvPr>
          <p:cNvSpPr/>
          <p:nvPr/>
        </p:nvSpPr>
        <p:spPr>
          <a:xfrm>
            <a:off x="6516216" y="4723962"/>
            <a:ext cx="2592288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500" dirty="0">
                <a:hlinkClick r:id="rId6"/>
              </a:rPr>
              <a:t>https://www.valuetronics.com/product/maui-studio-pro-teledyne-lecroy-software-new</a:t>
            </a:r>
            <a:endParaRPr lang="en-GB" sz="500" dirty="0"/>
          </a:p>
        </p:txBody>
      </p:sp>
      <p:sp>
        <p:nvSpPr>
          <p:cNvPr id="14" name="RS_Classification">
            <a:extLst>
              <a:ext uri="{FF2B5EF4-FFF2-40B4-BE49-F238E27FC236}">
                <a16:creationId xmlns:a16="http://schemas.microsoft.com/office/drawing/2014/main" id="{41FF2793-48EC-4772-ADE9-838A67444046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8A22A4D-8AFD-4CEC-A6F7-740F448C2F5F}"/>
              </a:ext>
            </a:extLst>
          </p:cNvPr>
          <p:cNvSpPr/>
          <p:nvPr/>
        </p:nvSpPr>
        <p:spPr>
          <a:xfrm>
            <a:off x="6372200" y="3798746"/>
            <a:ext cx="2664296" cy="109449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500" dirty="0" err="1"/>
          </a:p>
        </p:txBody>
      </p:sp>
    </p:spTree>
    <p:extLst>
      <p:ext uri="{BB962C8B-B14F-4D97-AF65-F5344CB8AC3E}">
        <p14:creationId xmlns:p14="http://schemas.microsoft.com/office/powerpoint/2010/main" val="35664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F3B390-1F60-44B5-AC3F-5A1CBF1410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Product structure &amp; timeline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3975A-CDAC-43EF-B770-4D95BF454ED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859338"/>
            <a:ext cx="250825" cy="134937"/>
          </a:xfrm>
        </p:spPr>
        <p:txBody>
          <a:bodyPr/>
          <a:lstStyle/>
          <a:p>
            <a:fld id="{57CB76AC-E5DF-427C-ABDC-2F4FBD8E4B69}" type="slidenum">
              <a:rPr lang="en-US" smtClean="0"/>
              <a:t>16</a:t>
            </a:fld>
            <a:endParaRPr lang="en-US"/>
          </a:p>
        </p:txBody>
      </p:sp>
      <p:sp>
        <p:nvSpPr>
          <p:cNvPr id="3" name="RS_Classification">
            <a:extLst>
              <a:ext uri="{FF2B5EF4-FFF2-40B4-BE49-F238E27FC236}">
                <a16:creationId xmlns:a16="http://schemas.microsoft.com/office/drawing/2014/main" id="{504B3875-C9E6-AD09-0F06-6CE80D7AF318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de-DE" sz="900" b="1" kern="100" spc="100"/>
              <a:t>COMPANY RESTRICTED</a:t>
            </a:r>
            <a:endParaRPr lang="de-DE" sz="900" b="1" kern="100" spc="100" dirty="0" err="1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71398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5EE-C3A9-4826-99FB-3D4B02598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R&amp;S®ScopeStudio</a:t>
            </a:r>
            <a:br>
              <a:rPr lang="en-US" dirty="0"/>
            </a:br>
            <a:r>
              <a:rPr lang="en-GB" dirty="0"/>
              <a:t>Product structure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6F8A-AE83-4F58-8C35-983625E4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17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6E0F2-DD67-4BB3-B756-97957ACDDD4B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GB" dirty="0" err="1"/>
              <a:t>R&amp;S®ScopeStudio</a:t>
            </a:r>
            <a:endParaRPr lang="en-GB" dirty="0"/>
          </a:p>
          <a:p>
            <a:endParaRPr lang="en-GB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245ED4-B6E7-4044-ABF3-4DEC32A88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11105138"/>
              </p:ext>
            </p:extLst>
          </p:nvPr>
        </p:nvGraphicFramePr>
        <p:xfrm>
          <a:off x="2869604" y="1131590"/>
          <a:ext cx="3404792" cy="3361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396">
                  <a:extLst>
                    <a:ext uri="{9D8B030D-6E8A-4147-A177-3AD203B41FA5}">
                      <a16:colId xmlns:a16="http://schemas.microsoft.com/office/drawing/2014/main" val="3139175650"/>
                    </a:ext>
                  </a:extLst>
                </a:gridCol>
                <a:gridCol w="1702396">
                  <a:extLst>
                    <a:ext uri="{9D8B030D-6E8A-4147-A177-3AD203B41FA5}">
                      <a16:colId xmlns:a16="http://schemas.microsoft.com/office/drawing/2014/main" val="1567277856"/>
                    </a:ext>
                  </a:extLst>
                </a:gridCol>
              </a:tblGrid>
              <a:tr h="368451"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err="1"/>
                        <a:t>R&amp;S®ScopeStudio</a:t>
                      </a:r>
                      <a:endParaRPr lang="en-GB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550€ + options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2346497178"/>
                  </a:ext>
                </a:extLst>
              </a:tr>
              <a:tr h="396167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Waveforms import/analysis</a:t>
                      </a:r>
                    </a:p>
                    <a:p>
                      <a:pPr algn="ctr"/>
                      <a:r>
                        <a:rPr lang="en-US" sz="700" dirty="0"/>
                        <a:t>Recalling reference, </a:t>
                      </a:r>
                      <a:r>
                        <a:rPr lang="en-US" sz="700" dirty="0" err="1"/>
                        <a:t>savesets</a:t>
                      </a:r>
                      <a:r>
                        <a:rPr lang="en-US" sz="700" dirty="0"/>
                        <a:t>, session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/>
                        <a:t>●</a:t>
                      </a:r>
                      <a:endParaRPr lang="en-GB" sz="800" dirty="0"/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1949093665"/>
                  </a:ext>
                </a:extLst>
              </a:tr>
              <a:tr h="285305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standard measurements, math options</a:t>
                      </a:r>
                      <a:endParaRPr lang="en-GB" sz="700" dirty="0"/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y-AM" sz="800" dirty="0"/>
                        <a:t>●</a:t>
                      </a:r>
                      <a:endParaRPr lang="en-GB" sz="800" dirty="0"/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1554635331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/>
                        <a:t>FFT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/>
                        <a:t>●</a:t>
                      </a:r>
                      <a:endParaRPr lang="en-GB" sz="800" dirty="0"/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3774607999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>
                          <a:solidFill>
                            <a:schemeClr val="tx1"/>
                          </a:solidFill>
                        </a:rPr>
                        <a:t>Hosted mode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2170975969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>
                          <a:solidFill>
                            <a:schemeClr val="tx1"/>
                          </a:solidFill>
                        </a:rPr>
                        <a:t>Simulated ARB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479125887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>
                          <a:solidFill>
                            <a:schemeClr val="tx1"/>
                          </a:solidFill>
                        </a:rPr>
                        <a:t>Scope Synchronization 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>
                          <a:solidFill>
                            <a:schemeClr val="tx1"/>
                          </a:solidFill>
                        </a:rPr>
                        <a:t>●</a:t>
                      </a:r>
                      <a:endParaRPr lang="en-GB" sz="800" dirty="0">
                        <a:solidFill>
                          <a:schemeClr val="tx1"/>
                        </a:solidFill>
                      </a:endParaRP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2004339119"/>
                  </a:ext>
                </a:extLst>
              </a:tr>
              <a:tr h="5070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Protocols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tx1"/>
                          </a:solidFill>
                        </a:rPr>
                        <a:t>(I2C, UART, SPI, CAN FD/XL, LIN, MIL1553, ARINC, SPMI, QSPI, 100BaseT1, 10BaseT1S)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Opt. 1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368074446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Power</a:t>
                      </a:r>
                      <a:endParaRPr lang="en-US" sz="700" dirty="0"/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rgbClr val="CBCED6"/>
                          </a:solidFill>
                        </a:rPr>
                        <a:t>Opt.2</a:t>
                      </a:r>
                      <a:endParaRPr lang="en-GB" sz="800" dirty="0">
                        <a:solidFill>
                          <a:srgbClr val="CBCED6"/>
                        </a:solidFill>
                      </a:endParaRPr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36403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High-speed T&amp;D </a:t>
                      </a:r>
                      <a:endParaRPr lang="en-US" sz="700" dirty="0"/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rgbClr val="CBCED6"/>
                          </a:solidFill>
                        </a:rPr>
                        <a:t>Opt.3</a:t>
                      </a:r>
                      <a:endParaRPr lang="en-GB" sz="800" dirty="0">
                        <a:solidFill>
                          <a:srgbClr val="CBCED6"/>
                        </a:solidFill>
                      </a:endParaRPr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801538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 pack (Eye, Jitter)</a:t>
                      </a:r>
                      <a:endParaRPr lang="en-US" sz="700" dirty="0"/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rgbClr val="CBCED6"/>
                          </a:solidFill>
                        </a:rPr>
                        <a:t>Opt.4</a:t>
                      </a:r>
                      <a:endParaRPr lang="en-GB" sz="800" dirty="0">
                        <a:solidFill>
                          <a:srgbClr val="CBCED6"/>
                        </a:solidFill>
                      </a:endParaRPr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96263"/>
                  </a:ext>
                </a:extLst>
              </a:tr>
            </a:tbl>
          </a:graphicData>
        </a:graphic>
      </p:graphicFrame>
      <p:sp>
        <p:nvSpPr>
          <p:cNvPr id="7" name="RS_Classification">
            <a:extLst>
              <a:ext uri="{FF2B5EF4-FFF2-40B4-BE49-F238E27FC236}">
                <a16:creationId xmlns:a16="http://schemas.microsoft.com/office/drawing/2014/main" id="{EFAA1212-8024-48DA-99BB-02217EDF58E3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238BA5-3E25-432E-962A-5DC7BF2AA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4143840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975EE-D51B-406D-B6AD-3B6CF96EC1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R&amp;S®ScopeStudio</a:t>
            </a:r>
            <a:br>
              <a:rPr lang="en-US" dirty="0"/>
            </a:br>
            <a:r>
              <a:rPr lang="en-US" dirty="0"/>
              <a:t>key advantages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1DF936-81B6-4EA4-846C-C76AD77127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Same great UI as MXO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Clear, lean yet modular commercial proposition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One software incl. all general purpose tools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Four options for specialists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No hidden recurring costs 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en-GB" sz="1200" dirty="0"/>
              <a:t>E.g. no maintenance, support, KS care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Good value-for-money</a:t>
            </a:r>
          </a:p>
          <a:p>
            <a:pPr marL="342900" indent="-342900">
              <a:buFont typeface="+mj-lt"/>
              <a:buAutoNum type="arabicPeriod"/>
            </a:pPr>
            <a:endParaRPr lang="en-GB" dirty="0"/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Designed for R&amp;S® scopes</a:t>
            </a:r>
          </a:p>
          <a:p>
            <a:pPr lvl="1"/>
            <a:endParaRPr lang="en-GB" dirty="0"/>
          </a:p>
          <a:p>
            <a:pPr lvl="1"/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073DE-5489-420E-B8B1-A8B3D27A3E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R&amp;S®ScopeStudio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6CC2F-E729-4836-B79A-7FD204D7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18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0391BD-CCA9-4D10-AAF2-69894BEF33F0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A01C91D-B462-44C0-97C5-148B53A79337}"/>
              </a:ext>
            </a:extLst>
          </p:cNvPr>
          <p:cNvGrpSpPr/>
          <p:nvPr/>
        </p:nvGrpSpPr>
        <p:grpSpPr>
          <a:xfrm>
            <a:off x="5580112" y="699542"/>
            <a:ext cx="3430319" cy="3651870"/>
            <a:chOff x="5580112" y="913637"/>
            <a:chExt cx="3430319" cy="3651870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3AD707F-10B2-415B-9D1D-F8A56487FBD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29000"/>
            <a:stretch/>
          </p:blipFill>
          <p:spPr>
            <a:xfrm>
              <a:off x="5580112" y="913637"/>
              <a:ext cx="3430319" cy="365187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F4C81BE-BA62-4942-A266-813457F4620D}"/>
                </a:ext>
              </a:extLst>
            </p:cNvPr>
            <p:cNvSpPr txBox="1"/>
            <p:nvPr/>
          </p:nvSpPr>
          <p:spPr>
            <a:xfrm>
              <a:off x="6291504" y="1114339"/>
              <a:ext cx="1003767" cy="24622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R&amp;S</a:t>
              </a:r>
              <a:r>
                <a:rPr lang="en-US" sz="1000" b="1" baseline="30000" dirty="0">
                  <a:solidFill>
                    <a:schemeClr val="bg1"/>
                  </a:solidFill>
                </a:rPr>
                <a:t>®</a:t>
              </a:r>
              <a:r>
                <a:rPr lang="en-GB" sz="1000" b="1" dirty="0">
                  <a:solidFill>
                    <a:schemeClr val="bg1"/>
                  </a:solidFill>
                </a:rPr>
                <a:t>Scope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FF5DB89-022F-4080-9382-6736E7309CB4}"/>
                </a:ext>
              </a:extLst>
            </p:cNvPr>
            <p:cNvSpPr txBox="1"/>
            <p:nvPr/>
          </p:nvSpPr>
          <p:spPr>
            <a:xfrm>
              <a:off x="7524360" y="1831080"/>
              <a:ext cx="1331640" cy="246221"/>
            </a:xfrm>
            <a:prstGeom prst="rect">
              <a:avLst/>
            </a:prstGeom>
            <a:solidFill>
              <a:schemeClr val="accent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chemeClr val="bg1"/>
                  </a:solidFill>
                </a:rPr>
                <a:t>R&amp;S</a:t>
              </a:r>
              <a:r>
                <a:rPr lang="en-US" sz="1000" b="1" baseline="30000" dirty="0">
                  <a:solidFill>
                    <a:schemeClr val="bg1"/>
                  </a:solidFill>
                </a:rPr>
                <a:t>®</a:t>
              </a:r>
              <a:r>
                <a:rPr lang="en-GB" sz="1000" b="1" dirty="0" err="1">
                  <a:solidFill>
                    <a:schemeClr val="bg1"/>
                  </a:solidFill>
                </a:rPr>
                <a:t>ScopeStudio</a:t>
              </a:r>
              <a:endParaRPr lang="en-GB" sz="10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11" name="RS_Classification">
            <a:extLst>
              <a:ext uri="{FF2B5EF4-FFF2-40B4-BE49-F238E27FC236}">
                <a16:creationId xmlns:a16="http://schemas.microsoft.com/office/drawing/2014/main" id="{96787F08-B408-4C89-B349-7C5A17BB9AF3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944FA49-EB56-488E-837A-DDA15F846CF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16166" y="1700360"/>
            <a:ext cx="1136608" cy="797161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994D8D6-4348-46A1-9537-82A8C21AAC0E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59966" y="2022560"/>
            <a:ext cx="1698277" cy="169827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72351F-E793-46DB-8B8F-A09B61FCA774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44248" y="2814493"/>
            <a:ext cx="1698277" cy="169827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A4DAA8DE-CA83-4F75-81D0-38860D52D13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299" b="89931" l="9961" r="89844">
                        <a14:foregroundMark x1="14453" y1="4514" x2="19824" y2="3819"/>
                        <a14:foregroundMark x1="19824" y1="3819" x2="49414" y2="4688"/>
                        <a14:foregroundMark x1="49414" y1="4688" x2="55176" y2="4340"/>
                        <a14:foregroundMark x1="55176" y1="4340" x2="60742" y2="4340"/>
                        <a14:foregroundMark x1="60742" y1="4340" x2="67578" y2="3993"/>
                        <a14:foregroundMark x1="67578" y1="3993" x2="73340" y2="3993"/>
                        <a14:foregroundMark x1="73340" y1="3993" x2="79199" y2="3472"/>
                        <a14:foregroundMark x1="79199" y1="3472" x2="84668" y2="3819"/>
                        <a14:foregroundMark x1="84668" y1="3819" x2="86914" y2="17535"/>
                        <a14:foregroundMark x1="86914" y1="17535" x2="87402" y2="75347"/>
                        <a14:foregroundMark x1="87402" y1="75347" x2="82617" y2="80729"/>
                        <a14:foregroundMark x1="82617" y1="80729" x2="20215" y2="78646"/>
                        <a14:foregroundMark x1="20215" y1="78646" x2="14648" y2="75521"/>
                        <a14:foregroundMark x1="14648" y1="75521" x2="13184" y2="65625"/>
                        <a14:foregroundMark x1="13184" y1="65625" x2="13574" y2="7292"/>
                        <a14:foregroundMark x1="13574" y1="7292" x2="14258" y2="4861"/>
                        <a14:foregroundMark x1="15137" y1="5903" x2="15332" y2="84028"/>
                        <a14:foregroundMark x1="15820" y1="82465" x2="21973" y2="83333"/>
                        <a14:foregroundMark x1="21973" y1="83333" x2="30078" y2="82986"/>
                        <a14:foregroundMark x1="41797" y1="83549" x2="47168" y2="82639"/>
                        <a14:foregroundMark x1="47168" y1="82639" x2="56348" y2="82813"/>
                        <a14:foregroundMark x1="56348" y1="82813" x2="67969" y2="81597"/>
                        <a14:foregroundMark x1="67969" y1="81597" x2="82715" y2="82292"/>
                        <a14:foregroundMark x1="82715" y1="82292" x2="85840" y2="82118"/>
                        <a14:foregroundMark x1="85547" y1="75694" x2="18848" y2="73438"/>
                        <a14:foregroundMark x1="18848" y1="73438" x2="41016" y2="67882"/>
                        <a14:foregroundMark x1="41016" y1="67882" x2="59375" y2="70660"/>
                        <a14:foregroundMark x1="59375" y1="70660" x2="72363" y2="68056"/>
                        <a14:foregroundMark x1="72363" y1="68056" x2="79590" y2="68229"/>
                        <a14:foregroundMark x1="79590" y1="68229" x2="85742" y2="66493"/>
                        <a14:foregroundMark x1="85352" y1="62674" x2="15137" y2="67535"/>
                        <a14:foregroundMark x1="70508" y1="62847" x2="70410" y2="6076"/>
                        <a14:foregroundMark x1="73340" y1="25347" x2="73828" y2="28299"/>
                        <a14:foregroundMark x1="73730" y1="56424" x2="85449" y2="51215"/>
                        <a14:foregroundMark x1="79102" y1="50868" x2="77930" y2="52778"/>
                        <a14:foregroundMark x1="85254" y1="49306" x2="85352" y2="35243"/>
                        <a14:foregroundMark x1="85156" y1="34375" x2="85156" y2="10243"/>
                        <a14:foregroundMark x1="83594" y1="11285" x2="81543" y2="11632"/>
                        <a14:foregroundMark x1="14258" y1="3993" x2="18164" y2="3819"/>
                        <a14:foregroundMark x1="70996" y1="6771" x2="80762" y2="5382"/>
                        <a14:foregroundMark x1="80762" y1="5382" x2="84863" y2="5903"/>
                        <a14:foregroundMark x1="79785" y1="27778" x2="79004" y2="47569"/>
                        <a14:foregroundMark x1="17090" y1="86632" x2="22266" y2="86632"/>
                        <a14:foregroundMark x1="77051" y1="85764" x2="82520" y2="85243"/>
                        <a14:foregroundMark x1="82520" y1="85243" x2="83203" y2="85243"/>
                        <a14:foregroundMark x1="22949" y1="85243" x2="17383" y2="86458"/>
                        <a14:foregroundMark x1="17383" y1="86458" x2="16797" y2="85417"/>
                        <a14:foregroundMark x1="16699" y1="85764" x2="16699" y2="87153"/>
                        <a14:foregroundMark x1="16895" y1="87500" x2="16895" y2="87500"/>
                        <a14:foregroundMark x1="17090" y1="87153" x2="17090" y2="87153"/>
                        <a14:foregroundMark x1="17188" y1="87153" x2="17188" y2="87153"/>
                        <a14:foregroundMark x1="17480" y1="87153" x2="17480" y2="87153"/>
                        <a14:foregroundMark x1="62988" y1="3993" x2="13965" y2="3299"/>
                        <a14:foregroundMark x1="79590" y1="86632" x2="83008" y2="85938"/>
                        <a14:foregroundMark x1="33890" y1="83235" x2="41797" y2="82639"/>
                        <a14:foregroundMark x1="76172" y1="11458" x2="81055" y2="11458"/>
                        <a14:backgroundMark x1="14258" y1="694" x2="20703" y2="347"/>
                        <a14:backgroundMark x1="20703" y1="347" x2="26172" y2="521"/>
                        <a14:backgroundMark x1="26172" y1="521" x2="32813" y2="521"/>
                        <a14:backgroundMark x1="32813" y1="521" x2="39355" y2="868"/>
                        <a14:backgroundMark x1="39355" y1="868" x2="47266" y2="521"/>
                        <a14:backgroundMark x1="47266" y1="521" x2="60352" y2="1215"/>
                        <a14:backgroundMark x1="60352" y1="1215" x2="80957" y2="694"/>
                        <a14:backgroundMark x1="80957" y1="694" x2="86133" y2="868"/>
                        <a14:backgroundMark x1="24902" y1="85938" x2="29505" y2="85710"/>
                        <a14:backgroundMark x1="33836" y1="85683" x2="53320" y2="86632"/>
                        <a14:backgroundMark x1="53320" y1="86632" x2="59863" y2="86111"/>
                        <a14:backgroundMark x1="59863" y1="86111" x2="72559" y2="86632"/>
                        <a14:backgroundMark x1="72559" y1="86632" x2="73730" y2="86458"/>
                        <a14:backgroundMark x1="74023" y1="86111" x2="65137" y2="86458"/>
                        <a14:backgroundMark x1="68555" y1="85764" x2="64746" y2="85938"/>
                        <a14:backgroundMark x1="73145" y1="85590" x2="68848" y2="85764"/>
                        <a14:backgroundMark x1="60547" y1="85590" x2="47949" y2="86111"/>
                        <a14:backgroundMark x1="66016" y1="85417" x2="60742" y2="85590"/>
                        <a14:backgroundMark x1="60742" y1="85590" x2="60742" y2="85590"/>
                        <a14:backgroundMark x1="29297" y1="85590" x2="34375" y2="85764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979732" y="3962575"/>
            <a:ext cx="1627307" cy="91536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" name="Star: 5 Points 15">
            <a:extLst>
              <a:ext uri="{FF2B5EF4-FFF2-40B4-BE49-F238E27FC236}">
                <a16:creationId xmlns:a16="http://schemas.microsoft.com/office/drawing/2014/main" id="{C45EBC23-B0DC-407B-820C-EFCC1E71A31D}"/>
              </a:ext>
            </a:extLst>
          </p:cNvPr>
          <p:cNvSpPr/>
          <p:nvPr/>
        </p:nvSpPr>
        <p:spPr>
          <a:xfrm>
            <a:off x="247502" y="1058574"/>
            <a:ext cx="360040" cy="357630"/>
          </a:xfrm>
          <a:prstGeom prst="star5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500" dirty="0" err="1"/>
          </a:p>
        </p:txBody>
      </p:sp>
      <p:sp>
        <p:nvSpPr>
          <p:cNvPr id="17" name="Star: 5 Points 16">
            <a:extLst>
              <a:ext uri="{FF2B5EF4-FFF2-40B4-BE49-F238E27FC236}">
                <a16:creationId xmlns:a16="http://schemas.microsoft.com/office/drawing/2014/main" id="{F8275E4C-4474-4E41-9A0A-A1681DC0C199}"/>
              </a:ext>
            </a:extLst>
          </p:cNvPr>
          <p:cNvSpPr/>
          <p:nvPr/>
        </p:nvSpPr>
        <p:spPr>
          <a:xfrm>
            <a:off x="227030" y="1643153"/>
            <a:ext cx="360040" cy="357630"/>
          </a:xfrm>
          <a:prstGeom prst="star5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500" dirty="0" err="1"/>
          </a:p>
        </p:txBody>
      </p:sp>
      <p:sp>
        <p:nvSpPr>
          <p:cNvPr id="18" name="Star: 5 Points 17">
            <a:extLst>
              <a:ext uri="{FF2B5EF4-FFF2-40B4-BE49-F238E27FC236}">
                <a16:creationId xmlns:a16="http://schemas.microsoft.com/office/drawing/2014/main" id="{456E36CF-3E73-4030-99B5-A21E0BE153B8}"/>
              </a:ext>
            </a:extLst>
          </p:cNvPr>
          <p:cNvSpPr/>
          <p:nvPr/>
        </p:nvSpPr>
        <p:spPr>
          <a:xfrm>
            <a:off x="128490" y="3507854"/>
            <a:ext cx="580961" cy="577072"/>
          </a:xfrm>
          <a:prstGeom prst="star5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GB" sz="1500" dirty="0" err="1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53F2BB8-DE89-4310-8A81-816FE76A6FF4}"/>
              </a:ext>
            </a:extLst>
          </p:cNvPr>
          <p:cNvSpPr txBox="1"/>
          <p:nvPr/>
        </p:nvSpPr>
        <p:spPr>
          <a:xfrm>
            <a:off x="236045" y="3665205"/>
            <a:ext cx="3961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/>
              <a:t>3.</a:t>
            </a:r>
          </a:p>
        </p:txBody>
      </p:sp>
    </p:spTree>
    <p:extLst>
      <p:ext uri="{BB962C8B-B14F-4D97-AF65-F5344CB8AC3E}">
        <p14:creationId xmlns:p14="http://schemas.microsoft.com/office/powerpoint/2010/main" val="48106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1C3EA-12C7-4530-A5A1-C2D402EDEB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structure &amp;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CEF6F-128E-4BD9-95D1-89E7F4C73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19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264CD7-C3E7-4031-92D8-A293E3755419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Rectangle 22">
            <a:extLst>
              <a:ext uri="{FF2B5EF4-FFF2-40B4-BE49-F238E27FC236}">
                <a16:creationId xmlns:a16="http://schemas.microsoft.com/office/drawing/2014/main" id="{FF4E2A42-2146-48A4-B0A5-7D61292008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74" y="4447404"/>
            <a:ext cx="1657588" cy="216000"/>
          </a:xfrm>
          <a:prstGeom prst="rect">
            <a:avLst/>
          </a:prstGeom>
          <a:solidFill>
            <a:srgbClr val="0060A2"/>
          </a:solidFill>
          <a:ln>
            <a:noFill/>
          </a:ln>
        </p:spPr>
        <p:txBody>
          <a:bodyPr wrap="none" lIns="91440" tIns="45720" rIns="91440" bIns="45720" anchor="ctr"/>
          <a:lstStyle/>
          <a:p>
            <a:pPr algn="ctr" defTabSz="914378" eaLnBrk="0" hangingPunct="0"/>
            <a:r>
              <a:rPr lang="en-US" sz="90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version 2.3.11.x BETA</a:t>
            </a:r>
          </a:p>
        </p:txBody>
      </p:sp>
      <p:sp>
        <p:nvSpPr>
          <p:cNvPr id="10" name="Rectangle 22">
            <a:extLst>
              <a:ext uri="{FF2B5EF4-FFF2-40B4-BE49-F238E27FC236}">
                <a16:creationId xmlns:a16="http://schemas.microsoft.com/office/drawing/2014/main" id="{6D4EE5B6-F1B3-4917-9E8E-C7B74798F0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7073" y="3243895"/>
            <a:ext cx="1657589" cy="1161000"/>
          </a:xfrm>
          <a:prstGeom prst="rect">
            <a:avLst/>
          </a:prstGeom>
          <a:solidFill>
            <a:srgbClr val="0060A2"/>
          </a:solidFill>
          <a:ln>
            <a:noFill/>
          </a:ln>
          <a:effectLst/>
        </p:spPr>
        <p:txBody>
          <a:bodyPr wrap="none" anchor="b"/>
          <a:lstStyle/>
          <a:p>
            <a:pPr algn="ctr" defTabSz="914378" eaLnBrk="0" hangingPunct="0"/>
            <a:r>
              <a:rPr lang="en-US" sz="105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Beta Test Candidate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Loading Ref. Curves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Cursors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Zooms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Automatic Measurements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Installer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Licensing</a:t>
            </a:r>
          </a:p>
        </p:txBody>
      </p:sp>
      <p:sp>
        <p:nvSpPr>
          <p:cNvPr id="11" name="Rectangle 22">
            <a:extLst>
              <a:ext uri="{FF2B5EF4-FFF2-40B4-BE49-F238E27FC236}">
                <a16:creationId xmlns:a16="http://schemas.microsoft.com/office/drawing/2014/main" id="{F651D506-D69E-47FD-97CA-B8E8EB49A3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983" y="4447404"/>
            <a:ext cx="1657590" cy="216000"/>
          </a:xfrm>
          <a:prstGeom prst="rect">
            <a:avLst/>
          </a:prstGeom>
          <a:solidFill>
            <a:srgbClr val="0060A2"/>
          </a:solidFill>
          <a:ln>
            <a:noFill/>
          </a:ln>
        </p:spPr>
        <p:txBody>
          <a:bodyPr wrap="none" lIns="91440" tIns="45720" rIns="91440" bIns="45720" anchor="ctr"/>
          <a:lstStyle/>
          <a:p>
            <a:pPr algn="ctr" defTabSz="914378" eaLnBrk="0" hangingPunct="0"/>
            <a:r>
              <a:rPr lang="en-US" sz="90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version 2.3</a:t>
            </a:r>
          </a:p>
        </p:txBody>
      </p:sp>
      <p:sp>
        <p:nvSpPr>
          <p:cNvPr id="12" name="Rectangle 22">
            <a:extLst>
              <a:ext uri="{FF2B5EF4-FFF2-40B4-BE49-F238E27FC236}">
                <a16:creationId xmlns:a16="http://schemas.microsoft.com/office/drawing/2014/main" id="{0C0317A3-91B9-4F34-B360-E055CBB13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39982" y="3243896"/>
            <a:ext cx="1657589" cy="1163808"/>
          </a:xfrm>
          <a:prstGeom prst="rect">
            <a:avLst/>
          </a:prstGeom>
          <a:solidFill>
            <a:srgbClr val="0060A2"/>
          </a:solidFill>
          <a:ln>
            <a:noFill/>
          </a:ln>
          <a:effectLst/>
        </p:spPr>
        <p:txBody>
          <a:bodyPr wrap="none" lIns="91440" tIns="45720" rIns="91440" bIns="45720" anchor="b"/>
          <a:lstStyle/>
          <a:p>
            <a:pPr algn="ctr" defTabSz="914378" eaLnBrk="0" hangingPunct="0"/>
            <a:r>
              <a:rPr lang="en-US" sz="105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Release Candidate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Sessions</a:t>
            </a:r>
          </a:p>
        </p:txBody>
      </p:sp>
      <p:sp>
        <p:nvSpPr>
          <p:cNvPr id="13" name="Rectangle 22">
            <a:extLst>
              <a:ext uri="{FF2B5EF4-FFF2-40B4-BE49-F238E27FC236}">
                <a16:creationId xmlns:a16="http://schemas.microsoft.com/office/drawing/2014/main" id="{37B06DFA-180E-4EB8-8EF9-658746CE36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319" y="4447404"/>
            <a:ext cx="1657590" cy="216000"/>
          </a:xfrm>
          <a:prstGeom prst="rect">
            <a:avLst/>
          </a:prstGeom>
          <a:solidFill>
            <a:srgbClr val="0060A2"/>
          </a:solidFill>
          <a:ln>
            <a:noFill/>
          </a:ln>
        </p:spPr>
        <p:txBody>
          <a:bodyPr wrap="none" lIns="91440" tIns="45720" rIns="91440" bIns="45720" anchor="ctr"/>
          <a:lstStyle/>
          <a:p>
            <a:pPr algn="ctr" defTabSz="914378" eaLnBrk="0" hangingPunct="0"/>
            <a:r>
              <a:rPr lang="en-US" sz="90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version 2.4</a:t>
            </a:r>
          </a:p>
        </p:txBody>
      </p:sp>
      <p:sp>
        <p:nvSpPr>
          <p:cNvPr id="16" name="Rectangle 22">
            <a:extLst>
              <a:ext uri="{FF2B5EF4-FFF2-40B4-BE49-F238E27FC236}">
                <a16:creationId xmlns:a16="http://schemas.microsoft.com/office/drawing/2014/main" id="{43BFA224-FD57-4C52-8478-D0EEF7C9D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9318" y="3243895"/>
            <a:ext cx="1657589" cy="1163809"/>
          </a:xfrm>
          <a:prstGeom prst="rect">
            <a:avLst/>
          </a:prstGeom>
          <a:solidFill>
            <a:srgbClr val="0060A2"/>
          </a:solidFill>
          <a:ln>
            <a:noFill/>
          </a:ln>
          <a:effectLst/>
        </p:spPr>
        <p:txBody>
          <a:bodyPr wrap="none" lIns="91440" tIns="45720" rIns="91440" bIns="45720" anchor="b"/>
          <a:lstStyle/>
          <a:p>
            <a:pPr algn="ctr" defTabSz="914378" eaLnBrk="0" hangingPunct="0"/>
            <a:r>
              <a:rPr lang="en-US" sz="105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Feature Enhancements</a:t>
            </a:r>
          </a:p>
          <a:p>
            <a:pPr algn="ctr" defTabSz="914378"/>
            <a:r>
              <a:rPr lang="en-US" sz="800" dirty="0">
                <a:solidFill>
                  <a:srgbClr val="FFFFFF"/>
                </a:solidFill>
                <a:latin typeface="Arial"/>
                <a:ea typeface="Arial Unicode MS"/>
                <a:cs typeface="Arial"/>
              </a:rPr>
              <a:t>Hosted Mode</a:t>
            </a:r>
            <a:endParaRPr lang="en-US" dirty="0"/>
          </a:p>
          <a:p>
            <a:pPr algn="ctr" defTabSz="914378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</a:rPr>
              <a:t>Protocol Decoding</a:t>
            </a:r>
          </a:p>
          <a:p>
            <a:pPr algn="ctr" defTabSz="914378"/>
            <a:r>
              <a:rPr lang="en-US" sz="750" dirty="0">
                <a:solidFill>
                  <a:srgbClr val="FFFFFF"/>
                </a:solidFill>
                <a:ea typeface="Arial Unicode MS"/>
              </a:rPr>
              <a:t>Digital channel support</a:t>
            </a:r>
          </a:p>
          <a:p>
            <a:pPr algn="ctr" defTabSz="914378"/>
            <a:r>
              <a:rPr lang="en-US" sz="750" dirty="0">
                <a:solidFill>
                  <a:srgbClr val="FFFFFF"/>
                </a:solidFill>
                <a:ea typeface="Arial Unicode MS"/>
              </a:rPr>
              <a:t>Import </a:t>
            </a:r>
            <a:r>
              <a:rPr lang="en-US" sz="750" dirty="0" err="1">
                <a:solidFill>
                  <a:srgbClr val="FFFFFF"/>
                </a:solidFill>
                <a:ea typeface="Arial Unicode MS"/>
              </a:rPr>
              <a:t>RTx</a:t>
            </a:r>
            <a:r>
              <a:rPr lang="en-US" sz="750" dirty="0">
                <a:solidFill>
                  <a:srgbClr val="FFFFFF"/>
                </a:solidFill>
                <a:ea typeface="Arial Unicode MS"/>
              </a:rPr>
              <a:t> waveforms</a:t>
            </a:r>
          </a:p>
        </p:txBody>
      </p:sp>
      <p:sp>
        <p:nvSpPr>
          <p:cNvPr id="17" name="Rectangle 22">
            <a:extLst>
              <a:ext uri="{FF2B5EF4-FFF2-40B4-BE49-F238E27FC236}">
                <a16:creationId xmlns:a16="http://schemas.microsoft.com/office/drawing/2014/main" id="{0744A6B0-C968-4DA8-BE70-4D3839D6F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655" y="4446116"/>
            <a:ext cx="1657589" cy="216000"/>
          </a:xfrm>
          <a:prstGeom prst="rect">
            <a:avLst/>
          </a:prstGeom>
          <a:solidFill>
            <a:srgbClr val="0060A2"/>
          </a:solidFill>
          <a:ln>
            <a:noFill/>
          </a:ln>
        </p:spPr>
        <p:txBody>
          <a:bodyPr wrap="none" lIns="91440" tIns="45720" rIns="91440" bIns="45720" anchor="ctr"/>
          <a:lstStyle/>
          <a:p>
            <a:pPr algn="ctr" defTabSz="914378" eaLnBrk="0" hangingPunct="0"/>
            <a:r>
              <a:rPr lang="en-US" sz="90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version 2.x</a:t>
            </a:r>
          </a:p>
        </p:txBody>
      </p:sp>
      <p:sp>
        <p:nvSpPr>
          <p:cNvPr id="18" name="Rectangle 22">
            <a:extLst>
              <a:ext uri="{FF2B5EF4-FFF2-40B4-BE49-F238E27FC236}">
                <a16:creationId xmlns:a16="http://schemas.microsoft.com/office/drawing/2014/main" id="{F1ABEB17-0965-4340-96F9-26E13BB29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8654" y="3243895"/>
            <a:ext cx="1657589" cy="1163809"/>
          </a:xfrm>
          <a:prstGeom prst="rect">
            <a:avLst/>
          </a:prstGeom>
          <a:solidFill>
            <a:srgbClr val="0060A2"/>
          </a:solidFill>
          <a:ln>
            <a:noFill/>
          </a:ln>
          <a:effectLst/>
        </p:spPr>
        <p:txBody>
          <a:bodyPr wrap="none" lIns="91440" tIns="45720" rIns="91440" bIns="45720" anchor="b"/>
          <a:lstStyle/>
          <a:p>
            <a:pPr algn="ctr" defTabSz="914378" eaLnBrk="0" hangingPunct="0"/>
            <a:r>
              <a:rPr lang="en-US" sz="1050" b="1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Future Enhancements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Scope Sync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Simulated Generator</a:t>
            </a:r>
          </a:p>
          <a:p>
            <a:pPr algn="ctr" defTabSz="914378" eaLnBrk="0" hangingPunct="0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Simulated Trigger / </a:t>
            </a:r>
            <a:r>
              <a:rPr lang="en-US" sz="750" dirty="0" err="1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Acq</a:t>
            </a:r>
            <a:endParaRPr lang="en-US" sz="750" dirty="0">
              <a:solidFill>
                <a:srgbClr val="FFFFFF"/>
              </a:solidFill>
              <a:latin typeface="Arial"/>
              <a:ea typeface="Arial Unicode MS"/>
              <a:cs typeface="Arial Unicode MS"/>
            </a:endParaRPr>
          </a:p>
          <a:p>
            <a:pPr algn="ctr" defTabSz="914378"/>
            <a:r>
              <a:rPr lang="en-US" sz="750" dirty="0">
                <a:solidFill>
                  <a:srgbClr val="FFFFFF"/>
                </a:solidFill>
                <a:latin typeface="Arial"/>
                <a:ea typeface="Arial Unicode MS"/>
                <a:cs typeface="Arial Unicode MS"/>
              </a:rPr>
              <a:t>Internal Demos</a:t>
            </a:r>
          </a:p>
        </p:txBody>
      </p:sp>
      <p:cxnSp>
        <p:nvCxnSpPr>
          <p:cNvPr id="21" name="Straight Arrow Connector 7">
            <a:extLst>
              <a:ext uri="{FF2B5EF4-FFF2-40B4-BE49-F238E27FC236}">
                <a16:creationId xmlns:a16="http://schemas.microsoft.com/office/drawing/2014/main" id="{01C24159-157B-4CFC-A5EC-E5654D48C15E}"/>
              </a:ext>
            </a:extLst>
          </p:cNvPr>
          <p:cNvCxnSpPr>
            <a:cxnSpLocks/>
          </p:cNvCxnSpPr>
          <p:nvPr/>
        </p:nvCxnSpPr>
        <p:spPr>
          <a:xfrm flipV="1">
            <a:off x="2709152" y="3147814"/>
            <a:ext cx="0" cy="16561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Speech Bubble: Rectangle 21">
            <a:extLst>
              <a:ext uri="{FF2B5EF4-FFF2-40B4-BE49-F238E27FC236}">
                <a16:creationId xmlns:a16="http://schemas.microsoft.com/office/drawing/2014/main" id="{7DB39709-19D0-493D-B51F-4DB21CB87D33}"/>
              </a:ext>
            </a:extLst>
          </p:cNvPr>
          <p:cNvSpPr/>
          <p:nvPr/>
        </p:nvSpPr>
        <p:spPr>
          <a:xfrm>
            <a:off x="2263681" y="2850701"/>
            <a:ext cx="845772" cy="222224"/>
          </a:xfrm>
          <a:prstGeom prst="wedgeRectCallout">
            <a:avLst>
              <a:gd name="adj1" fmla="val 5632"/>
              <a:gd name="adj2" fmla="val 8393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2024-09-16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3" name="Straight Arrow Connector 7">
            <a:extLst>
              <a:ext uri="{FF2B5EF4-FFF2-40B4-BE49-F238E27FC236}">
                <a16:creationId xmlns:a16="http://schemas.microsoft.com/office/drawing/2014/main" id="{D4F70FE0-9EAE-4C5E-8643-3B3D44E5B0BD}"/>
              </a:ext>
            </a:extLst>
          </p:cNvPr>
          <p:cNvCxnSpPr>
            <a:cxnSpLocks/>
          </p:cNvCxnSpPr>
          <p:nvPr/>
        </p:nvCxnSpPr>
        <p:spPr>
          <a:xfrm flipV="1">
            <a:off x="4423412" y="3140741"/>
            <a:ext cx="0" cy="16561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Speech Bubble: Rectangle 23">
            <a:extLst>
              <a:ext uri="{FF2B5EF4-FFF2-40B4-BE49-F238E27FC236}">
                <a16:creationId xmlns:a16="http://schemas.microsoft.com/office/drawing/2014/main" id="{771F7AB8-C4CE-4FE0-9CAE-143B0BAE64E5}"/>
              </a:ext>
            </a:extLst>
          </p:cNvPr>
          <p:cNvSpPr/>
          <p:nvPr/>
        </p:nvSpPr>
        <p:spPr>
          <a:xfrm>
            <a:off x="3977941" y="2843628"/>
            <a:ext cx="845772" cy="222224"/>
          </a:xfrm>
          <a:prstGeom prst="wedgeRectCallout">
            <a:avLst>
              <a:gd name="adj1" fmla="val 5632"/>
              <a:gd name="adj2" fmla="val 8393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2024-09-30</a:t>
            </a:r>
            <a:endParaRPr lang="en-US" sz="1000" dirty="0">
              <a:solidFill>
                <a:schemeClr val="tx1"/>
              </a:solidFill>
            </a:endParaRPr>
          </a:p>
        </p:txBody>
      </p:sp>
      <p:cxnSp>
        <p:nvCxnSpPr>
          <p:cNvPr id="25" name="Straight Arrow Connector 7">
            <a:extLst>
              <a:ext uri="{FF2B5EF4-FFF2-40B4-BE49-F238E27FC236}">
                <a16:creationId xmlns:a16="http://schemas.microsoft.com/office/drawing/2014/main" id="{1BBAAC71-DF2B-4166-A6E7-4C0582CCFD13}"/>
              </a:ext>
            </a:extLst>
          </p:cNvPr>
          <p:cNvCxnSpPr>
            <a:cxnSpLocks/>
          </p:cNvCxnSpPr>
          <p:nvPr/>
        </p:nvCxnSpPr>
        <p:spPr>
          <a:xfrm flipV="1">
            <a:off x="6132040" y="3143892"/>
            <a:ext cx="0" cy="16561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peech Bubble: Rectangle 25">
            <a:extLst>
              <a:ext uri="{FF2B5EF4-FFF2-40B4-BE49-F238E27FC236}">
                <a16:creationId xmlns:a16="http://schemas.microsoft.com/office/drawing/2014/main" id="{C9FB53F7-DCAE-45EC-ACDB-5EE94CC00453}"/>
              </a:ext>
            </a:extLst>
          </p:cNvPr>
          <p:cNvSpPr/>
          <p:nvPr/>
        </p:nvSpPr>
        <p:spPr>
          <a:xfrm>
            <a:off x="5686569" y="2846779"/>
            <a:ext cx="845772" cy="222224"/>
          </a:xfrm>
          <a:prstGeom prst="wedgeRectCallout">
            <a:avLst>
              <a:gd name="adj1" fmla="val 5632"/>
              <a:gd name="adj2" fmla="val 8393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Q1 2025</a:t>
            </a:r>
          </a:p>
        </p:txBody>
      </p:sp>
      <p:cxnSp>
        <p:nvCxnSpPr>
          <p:cNvPr id="27" name="Straight Arrow Connector 7">
            <a:extLst>
              <a:ext uri="{FF2B5EF4-FFF2-40B4-BE49-F238E27FC236}">
                <a16:creationId xmlns:a16="http://schemas.microsoft.com/office/drawing/2014/main" id="{A85238E2-7C2E-4AF1-BDDC-0ECD6E72EDC0}"/>
              </a:ext>
            </a:extLst>
          </p:cNvPr>
          <p:cNvCxnSpPr>
            <a:cxnSpLocks/>
          </p:cNvCxnSpPr>
          <p:nvPr/>
        </p:nvCxnSpPr>
        <p:spPr>
          <a:xfrm flipV="1">
            <a:off x="7838597" y="3143740"/>
            <a:ext cx="0" cy="165618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peech Bubble: Rectangle 27">
            <a:extLst>
              <a:ext uri="{FF2B5EF4-FFF2-40B4-BE49-F238E27FC236}">
                <a16:creationId xmlns:a16="http://schemas.microsoft.com/office/drawing/2014/main" id="{D205982B-EF79-42FC-B105-F872CC97E4A7}"/>
              </a:ext>
            </a:extLst>
          </p:cNvPr>
          <p:cNvSpPr/>
          <p:nvPr/>
        </p:nvSpPr>
        <p:spPr>
          <a:xfrm>
            <a:off x="7402029" y="2856313"/>
            <a:ext cx="842379" cy="212538"/>
          </a:xfrm>
          <a:prstGeom prst="wedgeRectCallout">
            <a:avLst>
              <a:gd name="adj1" fmla="val 5632"/>
              <a:gd name="adj2" fmla="val 83931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t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2025</a:t>
            </a:r>
            <a:endParaRPr lang="en-US" sz="1000" dirty="0" err="1">
              <a:solidFill>
                <a:schemeClr val="tx1"/>
              </a:solidFill>
            </a:endParaRPr>
          </a:p>
        </p:txBody>
      </p:sp>
      <p:sp>
        <p:nvSpPr>
          <p:cNvPr id="31" name="RS_Classification">
            <a:extLst>
              <a:ext uri="{FF2B5EF4-FFF2-40B4-BE49-F238E27FC236}">
                <a16:creationId xmlns:a16="http://schemas.microsoft.com/office/drawing/2014/main" id="{22DAAFAB-C6CA-485E-866F-513425EDA041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43B46DBC-D1F4-4402-8240-3F47A4DD5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134000"/>
            <a:ext cx="8631600" cy="1437750"/>
          </a:xfrm>
        </p:spPr>
        <p:txBody>
          <a:bodyPr/>
          <a:lstStyle/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r>
              <a:rPr lang="en-US" sz="1400" b="1" dirty="0" err="1">
                <a:solidFill>
                  <a:srgbClr val="003E76"/>
                </a:solidFill>
              </a:rPr>
              <a:t>R&amp;S®ScopeStudio</a:t>
            </a:r>
            <a:r>
              <a:rPr lang="en-US" sz="1400" b="1" dirty="0">
                <a:solidFill>
                  <a:srgbClr val="003E76"/>
                </a:solidFill>
              </a:rPr>
              <a:t> </a:t>
            </a:r>
            <a:r>
              <a:rPr lang="en-US" sz="1400" dirty="0"/>
              <a:t>	Import, Measurements, Math, FFT, </a:t>
            </a:r>
          </a:p>
          <a:p>
            <a:r>
              <a:rPr lang="en-US" sz="1400" b="1" dirty="0">
                <a:solidFill>
                  <a:srgbClr val="003E76"/>
                </a:solidFill>
              </a:rPr>
              <a:t>Roadmap		</a:t>
            </a:r>
            <a:r>
              <a:rPr lang="en-US" sz="1400" dirty="0"/>
              <a:t>Hosted, Simulated ARB, Scope Synchronization	</a:t>
            </a:r>
          </a:p>
          <a:p>
            <a:r>
              <a:rPr lang="en-US" sz="1400" b="1" dirty="0">
                <a:solidFill>
                  <a:srgbClr val="003E76"/>
                </a:solidFill>
              </a:rPr>
              <a:t>Roadmap Options		</a:t>
            </a:r>
            <a:r>
              <a:rPr lang="en-US" sz="1400" dirty="0"/>
              <a:t>Protocols, Power, High-speed T&amp;D, SI pack (Eye, Jitter) </a:t>
            </a:r>
          </a:p>
          <a:p>
            <a:r>
              <a:rPr lang="en-US" sz="1400" dirty="0"/>
              <a:t>Licensing:  Node-locked (no dongle), Perpetual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</a:rPr>
              <a:t>or </a:t>
            </a:r>
            <a:r>
              <a:rPr lang="en-US" sz="1400" dirty="0" err="1">
                <a:solidFill>
                  <a:schemeClr val="tx2">
                    <a:lumMod val="75000"/>
                  </a:schemeClr>
                </a:solidFill>
              </a:rPr>
              <a:t>timebase</a:t>
            </a:r>
            <a:r>
              <a:rPr lang="en-US" sz="1400" dirty="0"/>
              <a:t>, free 30-days evaluation </a:t>
            </a:r>
            <a:endParaRPr lang="en-US" dirty="0"/>
          </a:p>
          <a:p>
            <a:pPr marL="0" indent="0">
              <a:buNone/>
            </a:pPr>
            <a:r>
              <a:rPr lang="en-US" sz="800" dirty="0"/>
              <a:t>			</a:t>
            </a:r>
            <a:endParaRPr lang="en-US" dirty="0"/>
          </a:p>
        </p:txBody>
      </p:sp>
      <p:graphicFrame>
        <p:nvGraphicFramePr>
          <p:cNvPr id="32" name="Table 31">
            <a:extLst>
              <a:ext uri="{FF2B5EF4-FFF2-40B4-BE49-F238E27FC236}">
                <a16:creationId xmlns:a16="http://schemas.microsoft.com/office/drawing/2014/main" id="{9A61E87E-CA97-4970-B61A-420863ED95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3562011"/>
              </p:ext>
            </p:extLst>
          </p:nvPr>
        </p:nvGraphicFramePr>
        <p:xfrm>
          <a:off x="360000" y="1160970"/>
          <a:ext cx="5934075" cy="313818"/>
        </p:xfrm>
        <a:graphic>
          <a:graphicData uri="http://schemas.openxmlformats.org/drawingml/2006/table">
            <a:tbl>
              <a:tblPr firstRow="1" firstCol="1" bandRow="1"/>
              <a:tblGrid>
                <a:gridCol w="770890">
                  <a:extLst>
                    <a:ext uri="{9D8B030D-6E8A-4147-A177-3AD203B41FA5}">
                      <a16:colId xmlns:a16="http://schemas.microsoft.com/office/drawing/2014/main" val="2000667212"/>
                    </a:ext>
                  </a:extLst>
                </a:gridCol>
                <a:gridCol w="2153920">
                  <a:extLst>
                    <a:ext uri="{9D8B030D-6E8A-4147-A177-3AD203B41FA5}">
                      <a16:colId xmlns:a16="http://schemas.microsoft.com/office/drawing/2014/main" val="2471354570"/>
                    </a:ext>
                  </a:extLst>
                </a:gridCol>
                <a:gridCol w="1531620">
                  <a:extLst>
                    <a:ext uri="{9D8B030D-6E8A-4147-A177-3AD203B41FA5}">
                      <a16:colId xmlns:a16="http://schemas.microsoft.com/office/drawing/2014/main" val="3976848781"/>
                    </a:ext>
                  </a:extLst>
                </a:gridCol>
                <a:gridCol w="1477645">
                  <a:extLst>
                    <a:ext uri="{9D8B030D-6E8A-4147-A177-3AD203B41FA5}">
                      <a16:colId xmlns:a16="http://schemas.microsoft.com/office/drawing/2014/main" val="32993650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 Unicode MS"/>
                        </a:rPr>
                        <a:t>RS Type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6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 Unicode MS"/>
                        </a:rPr>
                        <a:t>Material name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6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 Unicode MS"/>
                        </a:rPr>
                        <a:t>Material Number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6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 Unicode MS"/>
                        </a:rPr>
                        <a:t>Price (EUR)</a:t>
                      </a:r>
                      <a:endParaRPr lang="en-GB" sz="100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42934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" panose="020B0604020202020204" pitchFamily="34" charset="0"/>
                        </a:rPr>
                        <a:t>MXO-PC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 anchor="b">
                    <a:lnL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" panose="020B0604020202020204" pitchFamily="34" charset="0"/>
                        </a:rPr>
                        <a:t>MXO-PC SCOPESTUDIO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 anchor="b">
                    <a:lnL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" panose="020B0604020202020204" pitchFamily="34" charset="0"/>
                        </a:rPr>
                        <a:t>1801.9005.02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 anchor="b">
                    <a:lnL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tc>
                  <a:txBody>
                    <a:bodyPr/>
                    <a:lstStyle/>
                    <a:p>
                      <a:pPr marL="36195" algn="r">
                        <a:lnSpc>
                          <a:spcPct val="112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Linotype Univers 420 Condensed" panose="020B0506030202020203" pitchFamily="34" charset="0"/>
                          <a:ea typeface="Arial Unicode MS"/>
                          <a:cs typeface="Arial" panose="020B0604020202020204" pitchFamily="34" charset="0"/>
                        </a:rPr>
                        <a:t>550</a:t>
                      </a:r>
                      <a:endParaRPr lang="en-GB" sz="1000" dirty="0">
                        <a:effectLst/>
                        <a:latin typeface="Arial" panose="020B0604020202020204" pitchFamily="34" charset="0"/>
                        <a:ea typeface="Arial Unicode MS"/>
                        <a:cs typeface="Arial Unicode MS"/>
                      </a:endParaRPr>
                    </a:p>
                  </a:txBody>
                  <a:tcPr marL="36195" marR="36195" marT="0" marB="0" anchor="b">
                    <a:lnL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E7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C3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6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109676"/>
                  </a:ext>
                </a:extLst>
              </a:tr>
            </a:tbl>
          </a:graphicData>
        </a:graphic>
      </p:graphicFrame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FD5149-0EEA-4D50-A7A8-3DF7C3D6D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2337840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  <p:bldP spid="13" grpId="0" animBg="1"/>
      <p:bldP spid="16" grpId="0" animBg="1"/>
      <p:bldP spid="17" grpId="0" animBg="1"/>
      <p:bldP spid="18" grpId="0" animBg="1"/>
      <p:bldP spid="22" grpId="0" animBg="1"/>
      <p:bldP spid="24" grpId="0" animBg="1"/>
      <p:bldP spid="26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FD5EE-C3A9-4826-99FB-3D4B02598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structure &amp; timeline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FA6F8A-AE83-4F58-8C35-983625E4F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20</a:t>
            </a:fld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16E0F2-DD67-4BB3-B756-97957ACDDD4B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endParaRPr lang="en-GB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6245ED4-B6E7-4044-ABF3-4DEC32A88F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3399352"/>
              </p:ext>
            </p:extLst>
          </p:nvPr>
        </p:nvGraphicFramePr>
        <p:xfrm>
          <a:off x="2018406" y="1131590"/>
          <a:ext cx="5107188" cy="33619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2396">
                  <a:extLst>
                    <a:ext uri="{9D8B030D-6E8A-4147-A177-3AD203B41FA5}">
                      <a16:colId xmlns:a16="http://schemas.microsoft.com/office/drawing/2014/main" val="3139175650"/>
                    </a:ext>
                  </a:extLst>
                </a:gridCol>
                <a:gridCol w="1702396">
                  <a:extLst>
                    <a:ext uri="{9D8B030D-6E8A-4147-A177-3AD203B41FA5}">
                      <a16:colId xmlns:a16="http://schemas.microsoft.com/office/drawing/2014/main" val="1567277856"/>
                    </a:ext>
                  </a:extLst>
                </a:gridCol>
                <a:gridCol w="1702396">
                  <a:extLst>
                    <a:ext uri="{9D8B030D-6E8A-4147-A177-3AD203B41FA5}">
                      <a16:colId xmlns:a16="http://schemas.microsoft.com/office/drawing/2014/main" val="26027686"/>
                    </a:ext>
                  </a:extLst>
                </a:gridCol>
              </a:tblGrid>
              <a:tr h="368451">
                <a:tc>
                  <a:txBody>
                    <a:bodyPr/>
                    <a:lstStyle/>
                    <a:p>
                      <a:pPr algn="ctr"/>
                      <a:endParaRPr lang="en-GB" sz="700" dirty="0"/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 err="1"/>
                        <a:t>R&amp;S®ScopeStudio</a:t>
                      </a:r>
                      <a:endParaRPr lang="en-GB" sz="10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550 € + options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000" dirty="0"/>
                        <a:t>Available from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2346497178"/>
                  </a:ext>
                </a:extLst>
              </a:tr>
              <a:tr h="396167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Waveforms import/analysis</a:t>
                      </a:r>
                    </a:p>
                    <a:p>
                      <a:pPr algn="ctr"/>
                      <a:r>
                        <a:rPr lang="en-US" sz="700" dirty="0"/>
                        <a:t>Recalling reference, </a:t>
                      </a:r>
                      <a:r>
                        <a:rPr lang="en-US" sz="700" dirty="0" err="1"/>
                        <a:t>savesets</a:t>
                      </a:r>
                      <a:r>
                        <a:rPr lang="en-US" sz="700" dirty="0"/>
                        <a:t>, session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/>
                        <a:t>●</a:t>
                      </a:r>
                      <a:endParaRPr lang="en-GB" sz="800" dirty="0"/>
                    </a:p>
                  </a:txBody>
                  <a:tcPr marL="63583" marR="63583" marT="31791" marB="31791" anchor="ctr"/>
                </a:tc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/>
                        <a:t>At launch (Q4 2024)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/>
                        <a:t>October?</a:t>
                      </a:r>
                    </a:p>
                  </a:txBody>
                  <a:tcPr marL="83146" marR="83146" marT="41573" marB="41573" anchor="ctr"/>
                </a:tc>
                <a:extLst>
                  <a:ext uri="{0D108BD9-81ED-4DB2-BD59-A6C34878D82A}">
                    <a16:rowId xmlns:a16="http://schemas.microsoft.com/office/drawing/2014/main" val="1949093665"/>
                  </a:ext>
                </a:extLst>
              </a:tr>
              <a:tr h="285305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standard measurements, math options</a:t>
                      </a:r>
                      <a:endParaRPr lang="en-GB" sz="700" dirty="0"/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hy-AM" sz="800" dirty="0"/>
                        <a:t>●</a:t>
                      </a:r>
                      <a:endParaRPr lang="en-GB" sz="800" dirty="0"/>
                    </a:p>
                  </a:txBody>
                  <a:tcPr marL="63583" marR="63583" marT="31791" marB="31791" anchor="ctr"/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54635331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/>
                        <a:t>FFT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/>
                        <a:t>●</a:t>
                      </a:r>
                      <a:endParaRPr lang="en-GB" sz="800" dirty="0"/>
                    </a:p>
                  </a:txBody>
                  <a:tcPr marL="63583" marR="63583" marT="31791" marB="31791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4607999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Hosted mode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●</a:t>
                      </a:r>
                      <a:endParaRPr lang="en-GB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Q1 2025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2170975969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Simulated ARB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●</a:t>
                      </a:r>
                      <a:endParaRPr lang="en-GB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479125887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algn="ctr"/>
                      <a:r>
                        <a:rPr lang="en-GB" sz="7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Scope Synchronization 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y-AM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●</a:t>
                      </a:r>
                      <a:endParaRPr lang="en-GB" sz="800" dirty="0">
                        <a:solidFill>
                          <a:schemeClr val="bg1">
                            <a:lumMod val="50000"/>
                          </a:schemeClr>
                        </a:solidFill>
                      </a:endParaRP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2025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2004339119"/>
                  </a:ext>
                </a:extLst>
              </a:tr>
              <a:tr h="50702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Protocols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(I2C, UART, SPI, CAN FD/XL, LIN, MIL1553, ARINC, SPMI, QSPI, 100BaseT1, 10BaseT1S)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bg1">
                              <a:lumMod val="50000"/>
                            </a:schemeClr>
                          </a:solidFill>
                        </a:rPr>
                        <a:t>Opt. 1</a:t>
                      </a:r>
                    </a:p>
                  </a:txBody>
                  <a:tcPr marL="63583" marR="63583" marT="31791" marB="31791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Q1 2025</a:t>
                      </a:r>
                    </a:p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(maybe Q4 2024)</a:t>
                      </a:r>
                    </a:p>
                  </a:txBody>
                  <a:tcPr marL="63583" marR="63583" marT="31791" marB="31791" anchor="ctr"/>
                </a:tc>
                <a:extLst>
                  <a:ext uri="{0D108BD9-81ED-4DB2-BD59-A6C34878D82A}">
                    <a16:rowId xmlns:a16="http://schemas.microsoft.com/office/drawing/2014/main" val="368074446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Power</a:t>
                      </a:r>
                      <a:endParaRPr lang="en-US" sz="700" dirty="0"/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rgbClr val="CBCED6"/>
                          </a:solidFill>
                        </a:rPr>
                        <a:t>Opt.2</a:t>
                      </a:r>
                      <a:endParaRPr lang="en-GB" sz="800" dirty="0">
                        <a:solidFill>
                          <a:srgbClr val="CBCED6"/>
                        </a:solidFill>
                      </a:endParaRPr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Growing with MXO family</a:t>
                      </a:r>
                    </a:p>
                  </a:txBody>
                  <a:tcPr marL="83146" marR="83146" marT="41573" marB="41573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6836403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High-speed T&amp;D </a:t>
                      </a:r>
                      <a:endParaRPr lang="en-US" sz="700" dirty="0"/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rgbClr val="CBCED6"/>
                          </a:solidFill>
                        </a:rPr>
                        <a:t>Opt.3</a:t>
                      </a:r>
                      <a:endParaRPr lang="en-GB" sz="800" dirty="0">
                        <a:solidFill>
                          <a:srgbClr val="CBCED6"/>
                        </a:solidFill>
                      </a:endParaRPr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CBCED6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6801538"/>
                  </a:ext>
                </a:extLst>
              </a:tr>
              <a:tr h="25786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dirty="0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SI pack (Eye, Jitter)</a:t>
                      </a:r>
                      <a:endParaRPr lang="en-US" sz="700" dirty="0"/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dirty="0">
                          <a:solidFill>
                            <a:srgbClr val="CBCED6"/>
                          </a:solidFill>
                        </a:rPr>
                        <a:t>Opt.4</a:t>
                      </a:r>
                      <a:endParaRPr lang="en-GB" sz="800" dirty="0">
                        <a:solidFill>
                          <a:srgbClr val="CBCED6"/>
                        </a:solidFill>
                      </a:endParaRPr>
                    </a:p>
                  </a:txBody>
                  <a:tcPr marL="63583" marR="63583" marT="31791" marB="31791"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n-GB" sz="1200" dirty="0">
                        <a:solidFill>
                          <a:srgbClr val="CBCED6"/>
                        </a:solidFill>
                      </a:endParaRPr>
                    </a:p>
                  </a:txBody>
                  <a:tcPr anchor="ctr">
                    <a:solidFill>
                      <a:schemeClr val="tx1">
                        <a:lumMod val="50000"/>
                        <a:lumOff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7496263"/>
                  </a:ext>
                </a:extLst>
              </a:tr>
            </a:tbl>
          </a:graphicData>
        </a:graphic>
      </p:graphicFrame>
      <p:sp>
        <p:nvSpPr>
          <p:cNvPr id="7" name="RS_Classification">
            <a:extLst>
              <a:ext uri="{FF2B5EF4-FFF2-40B4-BE49-F238E27FC236}">
                <a16:creationId xmlns:a16="http://schemas.microsoft.com/office/drawing/2014/main" id="{EFAA1212-8024-48DA-99BB-02217EDF58E3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D23AF7-BE0B-4757-95BC-F78EF0661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29526174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CF17A1C-866C-2136-ABCE-01FC88181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FBD2C5-8FBF-3205-F5AD-C5E786F80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B76AC-E5DF-427C-ABDC-2F4FBD8E4B69}" type="slidenum">
              <a:rPr lang="en-US" smtClean="0"/>
              <a:t>21</a:t>
            </a:fld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6C9BD28-AB24-69F0-C921-67461191B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70000" lvl="1" indent="0">
              <a:spcAft>
                <a:spcPts val="600"/>
              </a:spcAft>
              <a:buNone/>
            </a:pPr>
            <a:endParaRPr lang="en-GB" b="1" dirty="0">
              <a:solidFill>
                <a:schemeClr val="tx2"/>
              </a:solidFill>
              <a:latin typeface="Linotype Univers 420 Condensed" panose="020B0506030202020203" pitchFamily="34" charset="0"/>
            </a:endParaRPr>
          </a:p>
          <a:p>
            <a:endParaRPr lang="en-US" dirty="0"/>
          </a:p>
        </p:txBody>
      </p:sp>
      <p:sp>
        <p:nvSpPr>
          <p:cNvPr id="10" name="RS_Classification">
            <a:extLst>
              <a:ext uri="{FF2B5EF4-FFF2-40B4-BE49-F238E27FC236}">
                <a16:creationId xmlns:a16="http://schemas.microsoft.com/office/drawing/2014/main" id="{7FFC66DE-2F5D-37C3-70E2-FCE620B9537E}"/>
              </a:ext>
            </a:extLst>
          </p:cNvPr>
          <p:cNvSpPr txBox="1"/>
          <p:nvPr/>
        </p:nvSpPr>
        <p:spPr>
          <a:xfrm>
            <a:off x="7411923" y="4832341"/>
            <a:ext cx="1732077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US" sz="900" b="1" kern="100" spc="100"/>
              <a:t>COMPANY RESTRICTED</a:t>
            </a:r>
            <a:endParaRPr lang="en-US" sz="900" b="1" kern="100" spc="100" dirty="0" err="1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C98F24CE-8BB7-4CDE-B9A4-075592D23D26}"/>
              </a:ext>
            </a:extLst>
          </p:cNvPr>
          <p:cNvSpPr txBox="1">
            <a:spLocks/>
          </p:cNvSpPr>
          <p:nvPr/>
        </p:nvSpPr>
        <p:spPr>
          <a:xfrm>
            <a:off x="359999" y="1134000"/>
            <a:ext cx="7051923" cy="3528000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52000" indent="-252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Arial" panose="020B0604020202020204" pitchFamily="34" charset="0"/>
              <a:buChar char="►"/>
              <a:defRPr sz="1500" b="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63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81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99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117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6pPr>
            <a:lvl7pPr marL="135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7pPr>
            <a:lvl8pPr marL="153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8pPr>
            <a:lvl9pPr marL="1710000" indent="-18000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  <a:buSzPct val="90000"/>
              <a:buFont typeface="Symbol" panose="05050102010706020507" pitchFamily="18" charset="2"/>
              <a:buChar char="-"/>
              <a:defRPr sz="15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de-DE" sz="1400" dirty="0" err="1"/>
              <a:t>Upcoming</a:t>
            </a:r>
            <a:r>
              <a:rPr lang="de-DE" sz="1400" dirty="0"/>
              <a:t> </a:t>
            </a:r>
            <a:r>
              <a:rPr lang="de-DE" sz="1400" dirty="0" err="1"/>
              <a:t>new</a:t>
            </a:r>
            <a:r>
              <a:rPr lang="de-DE" sz="1400" dirty="0"/>
              <a:t> </a:t>
            </a:r>
            <a:r>
              <a:rPr lang="en-US" sz="1400" dirty="0"/>
              <a:t>R&amp;S</a:t>
            </a:r>
            <a:r>
              <a:rPr lang="en-US" sz="1400" baseline="30000" dirty="0"/>
              <a:t>®</a:t>
            </a:r>
            <a:r>
              <a:rPr lang="de-DE" sz="1400" dirty="0" err="1"/>
              <a:t>ScopeStudio</a:t>
            </a:r>
            <a:r>
              <a:rPr lang="de-DE" sz="1400" dirty="0"/>
              <a:t>: offline </a:t>
            </a:r>
            <a:r>
              <a:rPr lang="de-DE" sz="1400" dirty="0" err="1"/>
              <a:t>software</a:t>
            </a:r>
            <a:r>
              <a:rPr lang="de-DE" sz="1400" dirty="0"/>
              <a:t> for remote </a:t>
            </a:r>
            <a:r>
              <a:rPr lang="de-DE" sz="1400" dirty="0" err="1"/>
              <a:t>oscilloscope</a:t>
            </a:r>
            <a:r>
              <a:rPr lang="de-DE" sz="1400" dirty="0"/>
              <a:t> </a:t>
            </a:r>
            <a:r>
              <a:rPr lang="de-DE" sz="1400" dirty="0" err="1"/>
              <a:t>analysis</a:t>
            </a:r>
            <a:endParaRPr lang="de-DE" sz="1400" dirty="0"/>
          </a:p>
          <a:p>
            <a:pPr>
              <a:lnSpc>
                <a:spcPct val="200000"/>
              </a:lnSpc>
            </a:pPr>
            <a:r>
              <a:rPr lang="de-DE" sz="1400" dirty="0"/>
              <a:t>Same UI </a:t>
            </a:r>
            <a:r>
              <a:rPr lang="de-DE" sz="1400" dirty="0" err="1"/>
              <a:t>as</a:t>
            </a:r>
            <a:r>
              <a:rPr lang="de-DE" sz="1400" dirty="0"/>
              <a:t> MXO </a:t>
            </a:r>
            <a:r>
              <a:rPr lang="de-DE" sz="1400" dirty="0">
                <a:sym typeface="Wingdings" panose="05000000000000000000" pitchFamily="2" charset="2"/>
              </a:rPr>
              <a:t> </a:t>
            </a:r>
            <a:r>
              <a:rPr lang="de-DE" sz="1400" dirty="0" err="1">
                <a:sym typeface="Wingdings" panose="05000000000000000000" pitchFamily="2" charset="2"/>
              </a:rPr>
              <a:t>you</a:t>
            </a:r>
            <a:r>
              <a:rPr lang="de-DE" sz="1400" dirty="0">
                <a:sym typeface="Wingdings" panose="05000000000000000000" pitchFamily="2" charset="2"/>
              </a:rPr>
              <a:t> </a:t>
            </a:r>
            <a:r>
              <a:rPr lang="de-DE" sz="1400" dirty="0" err="1">
                <a:sym typeface="Wingdings" panose="05000000000000000000" pitchFamily="2" charset="2"/>
              </a:rPr>
              <a:t>can</a:t>
            </a:r>
            <a:r>
              <a:rPr lang="de-DE" sz="1400" dirty="0">
                <a:sym typeface="Wingdings" panose="05000000000000000000" pitchFamily="2" charset="2"/>
              </a:rPr>
              <a:t> </a:t>
            </a:r>
            <a:r>
              <a:rPr lang="de-DE" sz="1400" dirty="0" err="1">
                <a:sym typeface="Wingdings" panose="05000000000000000000" pitchFamily="2" charset="2"/>
              </a:rPr>
              <a:t>use</a:t>
            </a:r>
            <a:r>
              <a:rPr lang="de-DE" sz="1400" dirty="0">
                <a:sym typeface="Wingdings" panose="05000000000000000000" pitchFamily="2" charset="2"/>
              </a:rPr>
              <a:t> </a:t>
            </a:r>
            <a:r>
              <a:rPr lang="de-DE" sz="1400" dirty="0" err="1">
                <a:sym typeface="Wingdings" panose="05000000000000000000" pitchFamily="2" charset="2"/>
              </a:rPr>
              <a:t>it</a:t>
            </a:r>
            <a:r>
              <a:rPr lang="de-DE" sz="1400" dirty="0">
                <a:sym typeface="Wingdings" panose="05000000000000000000" pitchFamily="2" charset="2"/>
              </a:rPr>
              <a:t> for </a:t>
            </a:r>
            <a:r>
              <a:rPr lang="de-DE" sz="1400" dirty="0" err="1">
                <a:sym typeface="Wingdings" panose="05000000000000000000" pitchFamily="2" charset="2"/>
              </a:rPr>
              <a:t>demos</a:t>
            </a:r>
            <a:r>
              <a:rPr lang="de-DE" sz="1400" dirty="0">
                <a:sym typeface="Wingdings" panose="05000000000000000000" pitchFamily="2" charset="2"/>
              </a:rPr>
              <a:t>!</a:t>
            </a:r>
            <a:endParaRPr lang="de-DE" sz="1400" dirty="0"/>
          </a:p>
          <a:p>
            <a:pPr>
              <a:lnSpc>
                <a:spcPct val="200000"/>
              </a:lnSpc>
            </a:pPr>
            <a:r>
              <a:rPr lang="de-DE" sz="1400" dirty="0"/>
              <a:t>Future </a:t>
            </a:r>
            <a:r>
              <a:rPr lang="de-DE" sz="1400" dirty="0" err="1"/>
              <a:t>app</a:t>
            </a:r>
            <a:r>
              <a:rPr lang="de-DE" sz="1400" dirty="0"/>
              <a:t>/</a:t>
            </a:r>
            <a:r>
              <a:rPr lang="de-DE" sz="1400" dirty="0" err="1"/>
              <a:t>options</a:t>
            </a:r>
            <a:r>
              <a:rPr lang="de-DE" sz="1400" dirty="0"/>
              <a:t> like MXO</a:t>
            </a:r>
          </a:p>
          <a:p>
            <a:pPr>
              <a:lnSpc>
                <a:spcPct val="200000"/>
              </a:lnSpc>
            </a:pPr>
            <a:r>
              <a:rPr lang="de-DE" sz="1400" dirty="0"/>
              <a:t>Coming </a:t>
            </a:r>
            <a:r>
              <a:rPr lang="de-DE" sz="1400" dirty="0" err="1"/>
              <a:t>soon</a:t>
            </a:r>
            <a:r>
              <a:rPr lang="de-DE" sz="1400" dirty="0"/>
              <a:t>: </a:t>
            </a:r>
            <a:r>
              <a:rPr lang="de-DE" sz="1400" dirty="0" err="1"/>
              <a:t>capability</a:t>
            </a:r>
            <a:r>
              <a:rPr lang="de-DE" sz="1400" dirty="0"/>
              <a:t> </a:t>
            </a:r>
            <a:r>
              <a:rPr lang="de-DE" sz="1400" dirty="0" err="1"/>
              <a:t>to</a:t>
            </a:r>
            <a:r>
              <a:rPr lang="de-DE" sz="1400" dirty="0"/>
              <a:t> handle also </a:t>
            </a:r>
            <a:r>
              <a:rPr lang="de-DE" sz="1400" dirty="0" err="1"/>
              <a:t>RTx</a:t>
            </a:r>
            <a:r>
              <a:rPr lang="de-DE" sz="1400" dirty="0"/>
              <a:t> </a:t>
            </a:r>
            <a:r>
              <a:rPr lang="de-DE" sz="1400" dirty="0" err="1"/>
              <a:t>waveforms</a:t>
            </a:r>
            <a:r>
              <a:rPr lang="de-DE" sz="1400" dirty="0"/>
              <a:t>, Protocol </a:t>
            </a:r>
            <a:r>
              <a:rPr lang="de-DE" sz="1400" dirty="0" err="1"/>
              <a:t>option</a:t>
            </a:r>
            <a:r>
              <a:rPr lang="de-DE" sz="1400" dirty="0"/>
              <a:t> </a:t>
            </a:r>
          </a:p>
          <a:p>
            <a:pPr>
              <a:lnSpc>
                <a:spcPct val="200000"/>
              </a:lnSpc>
            </a:pPr>
            <a:r>
              <a:rPr lang="de-DE" sz="1400" dirty="0"/>
              <a:t>Coming </a:t>
            </a:r>
            <a:r>
              <a:rPr lang="de-DE" sz="1400" dirty="0" err="1"/>
              <a:t>soon</a:t>
            </a:r>
            <a:r>
              <a:rPr lang="de-DE" sz="1400" dirty="0"/>
              <a:t>: </a:t>
            </a:r>
            <a:r>
              <a:rPr lang="de-DE" sz="1400" dirty="0" err="1"/>
              <a:t>Hosted</a:t>
            </a:r>
            <a:r>
              <a:rPr lang="de-DE" sz="1400" dirty="0"/>
              <a:t> </a:t>
            </a:r>
            <a:r>
              <a:rPr lang="de-DE" sz="1400" dirty="0" err="1"/>
              <a:t>mode</a:t>
            </a:r>
            <a:r>
              <a:rPr lang="de-DE" sz="1400" dirty="0"/>
              <a:t>, ARB </a:t>
            </a:r>
            <a:r>
              <a:rPr lang="de-DE" sz="1400" dirty="0" err="1"/>
              <a:t>simulation</a:t>
            </a:r>
            <a:r>
              <a:rPr lang="de-DE" sz="1400" dirty="0"/>
              <a:t>, </a:t>
            </a:r>
            <a:r>
              <a:rPr lang="de-DE" sz="1400" dirty="0" err="1"/>
              <a:t>ScopeSynch</a:t>
            </a:r>
            <a:endParaRPr lang="de-DE" sz="1400" dirty="0"/>
          </a:p>
          <a:p>
            <a:pPr>
              <a:lnSpc>
                <a:spcPct val="200000"/>
              </a:lnSpc>
            </a:pPr>
            <a:r>
              <a:rPr lang="de-DE" sz="1400" dirty="0"/>
              <a:t>Ready for </a:t>
            </a:r>
            <a:r>
              <a:rPr lang="de-DE" sz="1400" dirty="0" err="1"/>
              <a:t>beta</a:t>
            </a:r>
            <a:r>
              <a:rPr lang="de-DE" sz="1400" dirty="0"/>
              <a:t> </a:t>
            </a:r>
            <a:r>
              <a:rPr lang="de-DE" sz="1400" dirty="0" err="1"/>
              <a:t>tests</a:t>
            </a:r>
            <a:endParaRPr lang="de-DE" sz="1400" dirty="0"/>
          </a:p>
          <a:p>
            <a:pPr>
              <a:lnSpc>
                <a:spcPct val="200000"/>
              </a:lnSpc>
            </a:pPr>
            <a:r>
              <a:rPr lang="de-DE" sz="1400" dirty="0"/>
              <a:t>Launch </a:t>
            </a:r>
            <a:r>
              <a:rPr lang="de-DE" sz="1400" dirty="0" err="1"/>
              <a:t>coming</a:t>
            </a:r>
            <a:r>
              <a:rPr lang="de-DE" sz="1400" dirty="0"/>
              <a:t> </a:t>
            </a:r>
            <a:r>
              <a:rPr lang="de-DE" sz="1400" dirty="0" err="1"/>
              <a:t>soon</a:t>
            </a:r>
            <a:r>
              <a:rPr lang="de-DE" sz="1400" dirty="0"/>
              <a:t>! </a:t>
            </a:r>
          </a:p>
          <a:p>
            <a:pPr>
              <a:lnSpc>
                <a:spcPct val="200000"/>
              </a:lnSpc>
            </a:pPr>
            <a:endParaRPr lang="de-DE" sz="1400" dirty="0">
              <a:sym typeface="Wingdings" panose="05000000000000000000" pitchFamily="2" charset="2"/>
            </a:endParaRPr>
          </a:p>
          <a:p>
            <a:pPr lvl="1"/>
            <a:endParaRPr lang="de-DE" sz="1400" dirty="0">
              <a:sym typeface="Wingdings" panose="05000000000000000000" pitchFamily="2" charset="2"/>
            </a:endParaRPr>
          </a:p>
          <a:p>
            <a:pPr lvl="1"/>
            <a:endParaRPr lang="en-US" sz="1400" dirty="0">
              <a:sym typeface="Wingdings" panose="05000000000000000000" pitchFamily="2" charset="2"/>
            </a:endParaRPr>
          </a:p>
          <a:p>
            <a:endParaRPr lang="en-US" sz="1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A18A755-2045-4D03-8AED-9D9434EB58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309377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BB13-EBBC-4565-92FD-CC3AD386B1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Questions? Ask the team!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35C393-B895-4563-8408-5D1E3171D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086BA-F4C1-4466-B31C-C9232764D35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8F4F7ED-7826-45D4-88BD-CF31C2F3E6CC}"/>
              </a:ext>
            </a:extLst>
          </p:cNvPr>
          <p:cNvSpPr/>
          <p:nvPr/>
        </p:nvSpPr>
        <p:spPr>
          <a:xfrm>
            <a:off x="1882845" y="1617137"/>
            <a:ext cx="2448154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90000"/>
            </a:pPr>
            <a:r>
              <a:rPr lang="en-US" sz="1500" dirty="0">
                <a:solidFill>
                  <a:srgbClr val="FFFFFF"/>
                </a:solidFill>
              </a:rPr>
              <a:t>Maximilian Melusin (1TD7)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20F196-C71C-4BED-B09D-A5F731DF83B8}"/>
              </a:ext>
            </a:extLst>
          </p:cNvPr>
          <p:cNvSpPr/>
          <p:nvPr/>
        </p:nvSpPr>
        <p:spPr>
          <a:xfrm>
            <a:off x="5832648" y="1617137"/>
            <a:ext cx="243623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90000"/>
            </a:pPr>
            <a:r>
              <a:rPr lang="en-US" sz="1500" dirty="0">
                <a:solidFill>
                  <a:srgbClr val="FFFFFF"/>
                </a:solidFill>
              </a:rPr>
              <a:t>Joel Woodward (1TD-A)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FB95E98E-064B-4C37-A5C9-D269E08782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2264" y="2861667"/>
            <a:ext cx="1006226" cy="1006226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C40DE4C-9E38-40F2-BC93-F4924871F0C7}"/>
              </a:ext>
            </a:extLst>
          </p:cNvPr>
          <p:cNvSpPr/>
          <p:nvPr/>
        </p:nvSpPr>
        <p:spPr>
          <a:xfrm>
            <a:off x="5832648" y="3203198"/>
            <a:ext cx="2610545" cy="3231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SzPct val="90000"/>
            </a:pPr>
            <a:r>
              <a:rPr lang="en-US" sz="1500" dirty="0">
                <a:solidFill>
                  <a:srgbClr val="FFFFFF"/>
                </a:solidFill>
              </a:rPr>
              <a:t>Luca Gragnaniello (1TDP)</a:t>
            </a:r>
          </a:p>
        </p:txBody>
      </p:sp>
      <p:sp>
        <p:nvSpPr>
          <p:cNvPr id="15" name="RS_Classification">
            <a:extLst>
              <a:ext uri="{FF2B5EF4-FFF2-40B4-BE49-F238E27FC236}">
                <a16:creationId xmlns:a16="http://schemas.microsoft.com/office/drawing/2014/main" id="{C5AFC67B-2FF0-4A7E-A6EF-698B2F504548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8D0354-3C61-41DC-B255-0CD533A9F0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2263" y="1275605"/>
            <a:ext cx="1006227" cy="10062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D44E9E5-FD12-42EB-9C07-C05991D6FA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117" y="1275604"/>
            <a:ext cx="1006227" cy="100622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E66DBB7-86C0-46CF-AD92-4DFDAE95B9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2667572"/>
            <a:ext cx="1960321" cy="1632369"/>
          </a:xfrm>
          <a:prstGeom prst="rect">
            <a:avLst/>
          </a:prstGeom>
        </p:spPr>
      </p:pic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2DE57E-CFBA-4C77-9453-D4D6C9705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R&amp;S®ScopeStudio</a:t>
            </a:r>
          </a:p>
        </p:txBody>
      </p:sp>
    </p:spTree>
    <p:extLst>
      <p:ext uri="{BB962C8B-B14F-4D97-AF65-F5344CB8AC3E}">
        <p14:creationId xmlns:p14="http://schemas.microsoft.com/office/powerpoint/2010/main" val="20948193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B06D4080-1EFE-4D31-A358-A9C46D325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u="sng" dirty="0"/>
              <a:t>Ready to Try it?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E6E3C-D1BA-4792-8107-B60A0F24DD97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0" y="4859338"/>
            <a:ext cx="250825" cy="134937"/>
          </a:xfrm>
        </p:spPr>
        <p:txBody>
          <a:bodyPr/>
          <a:lstStyle/>
          <a:p>
            <a:fld id="{E64086BA-F4C1-4466-B31C-C9232764D35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11" name="RS_Classification">
            <a:extLst>
              <a:ext uri="{FF2B5EF4-FFF2-40B4-BE49-F238E27FC236}">
                <a16:creationId xmlns:a16="http://schemas.microsoft.com/office/drawing/2014/main" id="{4BFD1CBA-52F0-4F44-A157-DD3083EDFD72}"/>
              </a:ext>
            </a:extLst>
          </p:cNvPr>
          <p:cNvSpPr txBox="1"/>
          <p:nvPr/>
        </p:nvSpPr>
        <p:spPr>
          <a:xfrm>
            <a:off x="7407627" y="4832341"/>
            <a:ext cx="1736373" cy="211083"/>
          </a:xfrm>
          <a:prstGeom prst="rect">
            <a:avLst/>
          </a:prstGeom>
          <a:solidFill>
            <a:srgbClr val="F8F8F8"/>
          </a:solidFill>
        </p:spPr>
        <p:txBody>
          <a:bodyPr vert="horz" wrap="none" lIns="75565" tIns="35941" rIns="75565" bIns="35941" rtlCol="0" anchor="ctr">
            <a:spAutoFit/>
          </a:bodyPr>
          <a:lstStyle/>
          <a:p>
            <a:r>
              <a:rPr lang="en-GB" sz="900" b="1" kern="100" spc="100"/>
              <a:t>COMPANY RESTRICTED</a:t>
            </a:r>
            <a:endParaRPr lang="en-GB" sz="900" b="1" kern="100" spc="100" dirty="0" err="1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ABF0A62C-C832-43DE-A45B-5DEF8EF28333}"/>
              </a:ext>
            </a:extLst>
          </p:cNvPr>
          <p:cNvSpPr>
            <a:spLocks noGrp="1"/>
          </p:cNvSpPr>
          <p:nvPr>
            <p:ph type="body" sz="quarter" idx="9"/>
          </p:nvPr>
        </p:nvSpPr>
        <p:spPr/>
        <p:txBody>
          <a:bodyPr/>
          <a:lstStyle/>
          <a:p>
            <a:r>
              <a:rPr lang="en-US" dirty="0"/>
              <a:t>Send me an e-mail: Luca.Gragnaniello@rohde-schwarz.com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8282346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_RESETFORMATTING" val="Tru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COMPANY RESTRICTE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COMPANY RESTRICTE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COMPANY RESTRICTE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COMPANY RESTRICTE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COMPANY RESTRICTE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S_CLASSIFICATION" val="COMPANY RESTRICTED"/>
</p:tagLst>
</file>

<file path=ppt/theme/theme1.xml><?xml version="1.0" encoding="utf-8"?>
<a:theme xmlns:a="http://schemas.openxmlformats.org/drawingml/2006/main" name="US Rohde und Schwarz 16 to 9_Neu">
  <a:themeElements>
    <a:clrScheme name="Rohde &amp; Schwarz Colors">
      <a:dk1>
        <a:srgbClr val="000000"/>
      </a:dk1>
      <a:lt1>
        <a:srgbClr val="FFFFFF"/>
      </a:lt1>
      <a:dk2>
        <a:srgbClr val="009DEC"/>
      </a:dk2>
      <a:lt2>
        <a:srgbClr val="F8AD3E"/>
      </a:lt2>
      <a:accent1>
        <a:srgbClr val="003E76"/>
      </a:accent1>
      <a:accent2>
        <a:srgbClr val="A50F14"/>
      </a:accent2>
      <a:accent3>
        <a:srgbClr val="007973"/>
      </a:accent3>
      <a:accent4>
        <a:srgbClr val="BFC3C6"/>
      </a:accent4>
      <a:accent5>
        <a:srgbClr val="0083A2"/>
      </a:accent5>
      <a:accent6>
        <a:srgbClr val="EA5B0C"/>
      </a:accent6>
      <a:hlink>
        <a:srgbClr val="009DEC"/>
      </a:hlink>
      <a:folHlink>
        <a:srgbClr val="933973"/>
      </a:folHlink>
    </a:clrScheme>
    <a:fontScheme name="Rohde &amp; Schwarz Font">
      <a:majorFont>
        <a:latin typeface="Arial Narrow"/>
        <a:ea typeface="メイリオ"/>
        <a:cs typeface="Arial Unicode MS"/>
      </a:majorFont>
      <a:minorFont>
        <a:latin typeface="Arial"/>
        <a:ea typeface="メイリオ"/>
        <a:cs typeface="Arial Unicode MS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t"/>
      <a:lstStyle>
        <a:defPPr>
          <a:defRPr sz="1500" dirty="0" err="1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15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vorlage_powerpoint_standard_16zu9_00tr_en_V2.2 - Copy.potx" id="{9FE7EB58-C32C-4C53-A08F-24562AE970D2}" vid="{3EB85E0E-4623-4FDF-936A-72A792290D1B}"/>
    </a:ext>
  </a:extLst>
</a:theme>
</file>

<file path=ppt/theme/theme2.xml><?xml version="1.0" encoding="utf-8"?>
<a:theme xmlns:a="http://schemas.openxmlformats.org/drawingml/2006/main" name="Office Theme">
  <a:themeElements>
    <a:clrScheme name="Rohde &amp; Schwarz Colors">
      <a:dk1>
        <a:srgbClr val="000000"/>
      </a:dk1>
      <a:lt1>
        <a:srgbClr val="FFFFFF"/>
      </a:lt1>
      <a:dk2>
        <a:srgbClr val="009DEC"/>
      </a:dk2>
      <a:lt2>
        <a:srgbClr val="F8AD3E"/>
      </a:lt2>
      <a:accent1>
        <a:srgbClr val="003E76"/>
      </a:accent1>
      <a:accent2>
        <a:srgbClr val="A50F14"/>
      </a:accent2>
      <a:accent3>
        <a:srgbClr val="007973"/>
      </a:accent3>
      <a:accent4>
        <a:srgbClr val="BFC3C6"/>
      </a:accent4>
      <a:accent5>
        <a:srgbClr val="0083A2"/>
      </a:accent5>
      <a:accent6>
        <a:srgbClr val="EA5B0C"/>
      </a:accent6>
      <a:hlink>
        <a:srgbClr val="009DEC"/>
      </a:hlink>
      <a:folHlink>
        <a:srgbClr val="933973"/>
      </a:folHlink>
    </a:clrScheme>
    <a:fontScheme name="Rohde &amp; Schwarz Font">
      <a:majorFont>
        <a:latin typeface="Arial Narrow"/>
        <a:ea typeface="メイリオ"/>
        <a:cs typeface="Arial Unicode MS"/>
      </a:majorFont>
      <a:minorFont>
        <a:latin typeface="Arial"/>
        <a:ea typeface="メイリオ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EB88ABD78753947822D9EFC47B3E84A" ma:contentTypeVersion="14" ma:contentTypeDescription="Create a new document." ma:contentTypeScope="" ma:versionID="986ddc2bc83b710864b3906744142541">
  <xsd:schema xmlns:xsd="http://www.w3.org/2001/XMLSchema" xmlns:xs="http://www.w3.org/2001/XMLSchema" xmlns:p="http://schemas.microsoft.com/office/2006/metadata/properties" xmlns:ns2="d32b12b9-a65f-48c9-9d51-4792e3d625df" xmlns:ns3="83976ac2-69ea-4e5b-9c7b-245b9acb44a9" targetNamespace="http://schemas.microsoft.com/office/2006/metadata/properties" ma:root="true" ma:fieldsID="9d45ef8e722c1ac3638da27a815a7f4f" ns2:_="" ns3:_="">
    <xsd:import namespace="d32b12b9-a65f-48c9-9d51-4792e3d625df"/>
    <xsd:import namespace="83976ac2-69ea-4e5b-9c7b-245b9acb44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MediaServiceSearchPropertie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2b12b9-a65f-48c9-9d51-4792e3d625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fbfd99f-4195-4a7e-878e-1fdcbb8c26b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976ac2-69ea-4e5b-9c7b-245b9acb44a9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27eeef7a-d531-41c2-82e8-043c69566c4e}" ma:internalName="TaxCatchAll" ma:showField="CatchAllData" ma:web="83976ac2-69ea-4e5b-9c7b-245b9acb44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3976ac2-69ea-4e5b-9c7b-245b9acb44a9" xsi:nil="true"/>
    <lcf76f155ced4ddcb4097134ff3c332f xmlns="d32b12b9-a65f-48c9-9d51-4792e3d625df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6D968A8-0051-4411-AF83-C9B4ED3848F8}"/>
</file>

<file path=customXml/itemProps2.xml><?xml version="1.0" encoding="utf-8"?>
<ds:datastoreItem xmlns:ds="http://schemas.openxmlformats.org/officeDocument/2006/customXml" ds:itemID="{F99DB7C1-AB23-4172-91A3-127BA782FCF7}"/>
</file>

<file path=customXml/itemProps3.xml><?xml version="1.0" encoding="utf-8"?>
<ds:datastoreItem xmlns:ds="http://schemas.openxmlformats.org/officeDocument/2006/customXml" ds:itemID="{1350AD38-F8FE-4D51-B457-C80FB4DFD9CD}"/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0</TotalTime>
  <Words>1243</Words>
  <Application>Microsoft Office PowerPoint</Application>
  <PresentationFormat>On-screen Show (16:9)</PresentationFormat>
  <Paragraphs>333</Paragraphs>
  <Slides>23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4" baseType="lpstr">
      <vt:lpstr>メイリオ</vt:lpstr>
      <vt:lpstr>Arial</vt:lpstr>
      <vt:lpstr>Arial Narrow</vt:lpstr>
      <vt:lpstr>Arial Unicode MS</vt:lpstr>
      <vt:lpstr>Calibri</vt:lpstr>
      <vt:lpstr>Courier New</vt:lpstr>
      <vt:lpstr>Linotype Univers 420 Condensed</vt:lpstr>
      <vt:lpstr>Symbol</vt:lpstr>
      <vt:lpstr>Wingdings</vt:lpstr>
      <vt:lpstr>US Rohde und Schwarz 16 to 9_Neu</vt:lpstr>
      <vt:lpstr>think-cell Slide</vt:lpstr>
      <vt:lpstr>R&amp;S®scopestudio  offline scope software   </vt:lpstr>
      <vt:lpstr>outline</vt:lpstr>
      <vt:lpstr>why using an offline software?</vt:lpstr>
      <vt:lpstr>why using an offline software?</vt:lpstr>
      <vt:lpstr>What is ScopeStudio?</vt:lpstr>
      <vt:lpstr>PC-based application </vt:lpstr>
      <vt:lpstr>Import feature set </vt:lpstr>
      <vt:lpstr>ROADMAP – EXPANDed Use models </vt:lpstr>
      <vt:lpstr>Roadmap - Generator (simulation) </vt:lpstr>
      <vt:lpstr>ScopeStudio applications options </vt:lpstr>
      <vt:lpstr>Competitor landscape</vt:lpstr>
      <vt:lpstr>Keysight Infiniium offline</vt:lpstr>
      <vt:lpstr>KS licensing</vt:lpstr>
      <vt:lpstr>Tekscope</vt:lpstr>
      <vt:lpstr>Lecroy maui studio</vt:lpstr>
      <vt:lpstr>Product structure &amp; timeline</vt:lpstr>
      <vt:lpstr>R&amp;S®ScopeStudio Product structure</vt:lpstr>
      <vt:lpstr>R&amp;S®ScopeStudio key advantages</vt:lpstr>
      <vt:lpstr>Product structure &amp; timeline</vt:lpstr>
      <vt:lpstr>Product structure &amp; timeline</vt:lpstr>
      <vt:lpstr>Summary</vt:lpstr>
      <vt:lpstr>Questions? Ask the team!</vt:lpstr>
      <vt:lpstr>Ready to Try it?</vt:lpstr>
    </vt:vector>
  </TitlesOfParts>
  <Manager>Claus Luger/GF-BS4</Manager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R&amp;S®scopestudio  overview</dc:title>
  <dc:subject>Process landscape</dc:subject>
  <dc:creator>Gragnaniello Luca (1TDP)</dc:creator>
  <cp:keywords>2022-08-26</cp:keywords>
  <cp:lastModifiedBy>Gragnaniello Luca (1TDP)</cp:lastModifiedBy>
  <cp:revision>51</cp:revision>
  <dcterms:created xsi:type="dcterms:W3CDTF">2024-06-24T13:42:29Z</dcterms:created>
  <dcterms:modified xsi:type="dcterms:W3CDTF">2024-09-16T09:25:36Z</dcterms:modified>
  <cp:category>3575.4794.02</cp:category>
  <cp:contentStatus>06.00</cp:contentStatu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RS_TemplateCategory">
    <vt:lpwstr>EN(uk.png)/Global(global.png)</vt:lpwstr>
  </property>
  <property fmtid="{D5CDD505-2E9C-101B-9397-08002B2CF9AE}" pid="3" name="RS_TemplateID">
    <vt:lpwstr>3575.4794.02</vt:lpwstr>
  </property>
  <property fmtid="{D5CDD505-2E9C-101B-9397-08002B2CF9AE}" pid="4" name="RS_Version">
    <vt:lpwstr>06.00</vt:lpwstr>
  </property>
  <property fmtid="{D5CDD505-2E9C-101B-9397-08002B2CF9AE}" pid="5" name="RS_TemplateName">
    <vt:lpwstr>Template PowerPoint R&amp;&amp;S standard 16 to 9 (PAD-T-R)</vt:lpwstr>
  </property>
  <property fmtid="{D5CDD505-2E9C-101B-9397-08002B2CF9AE}" pid="6" name="RS_TemplateImage">
    <vt:lpwstr>global.png</vt:lpwstr>
  </property>
  <property fmtid="{D5CDD505-2E9C-101B-9397-08002B2CF9AE}" pid="7" name="TM_ClassificationPosition">
    <vt:lpwstr>{"x":0,"y":7.88}</vt:lpwstr>
  </property>
  <property fmtid="{D5CDD505-2E9C-101B-9397-08002B2CF9AE}" pid="8" name="TM_ClassificationMargin">
    <vt:lpwstr>{"left":5.95,"right":5.95,"top":2.83,"bottom":2.83}</vt:lpwstr>
  </property>
  <property fmtid="{D5CDD505-2E9C-101B-9397-08002B2CF9AE}" pid="9" name="TM_ClassificationParagraph">
    <vt:lpwstr>{"spaceAfter":0,"spaceBefore":0,"spaceWithin":1}</vt:lpwstr>
  </property>
  <property fmtid="{D5CDD505-2E9C-101B-9397-08002B2CF9AE}" pid="10" name="TM_ClassificationFont">
    <vt:lpwstr>{"fontColor":{"red":"0","green":"0","blue":"0"},"fillColor":{"red":"248","green":"248","blue":"248"},"size":9,"spacing":1,"kerning":1,"bold":true}</vt:lpwstr>
  </property>
  <property fmtid="{D5CDD505-2E9C-101B-9397-08002B2CF9AE}" pid="11" name="RS_Lang">
    <vt:lpwstr>EN</vt:lpwstr>
  </property>
  <property fmtid="{D5CDD505-2E9C-101B-9397-08002B2CF9AE}" pid="12" name="MSIP_Label_ae9ac9c2-fcd2-4d0b-8613-b7f540967ed5_Enabled">
    <vt:lpwstr>true</vt:lpwstr>
  </property>
  <property fmtid="{D5CDD505-2E9C-101B-9397-08002B2CF9AE}" pid="13" name="MSIP_Label_ae9ac9c2-fcd2-4d0b-8613-b7f540967ed5_SetDate">
    <vt:lpwstr>2024-06-24T13:43:54Z</vt:lpwstr>
  </property>
  <property fmtid="{D5CDD505-2E9C-101B-9397-08002B2CF9AE}" pid="14" name="MSIP_Label_ae9ac9c2-fcd2-4d0b-8613-b7f540967ed5_Method">
    <vt:lpwstr>Privileged</vt:lpwstr>
  </property>
  <property fmtid="{D5CDD505-2E9C-101B-9397-08002B2CF9AE}" pid="15" name="MSIP_Label_ae9ac9c2-fcd2-4d0b-8613-b7f540967ed5_Name">
    <vt:lpwstr>COMPANY RESTRICTED - BUSINESS USE</vt:lpwstr>
  </property>
  <property fmtid="{D5CDD505-2E9C-101B-9397-08002B2CF9AE}" pid="16" name="MSIP_Label_ae9ac9c2-fcd2-4d0b-8613-b7f540967ed5_SiteId">
    <vt:lpwstr>74bddbd9-705c-456e-aabd-99beb719a2b2</vt:lpwstr>
  </property>
  <property fmtid="{D5CDD505-2E9C-101B-9397-08002B2CF9AE}" pid="17" name="MSIP_Label_ae9ac9c2-fcd2-4d0b-8613-b7f540967ed5_ActionId">
    <vt:lpwstr>cef877b4-af24-42a0-9288-0f80db81b4b7</vt:lpwstr>
  </property>
  <property fmtid="{D5CDD505-2E9C-101B-9397-08002B2CF9AE}" pid="18" name="MSIP_Label_ae9ac9c2-fcd2-4d0b-8613-b7f540967ed5_ContentBits">
    <vt:lpwstr>0</vt:lpwstr>
  </property>
  <property fmtid="{D5CDD505-2E9C-101B-9397-08002B2CF9AE}" pid="19" name="ContentTypeId">
    <vt:lpwstr>0x010100FEB88ABD78753947822D9EFC47B3E84A</vt:lpwstr>
  </property>
</Properties>
</file>